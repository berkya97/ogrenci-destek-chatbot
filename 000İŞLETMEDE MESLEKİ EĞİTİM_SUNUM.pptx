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8" r:id="rId2"/>
    <p:sldId id="318" r:id="rId3"/>
    <p:sldId id="327" r:id="rId4"/>
    <p:sldId id="328" r:id="rId5"/>
    <p:sldId id="338" r:id="rId6"/>
    <p:sldId id="332" r:id="rId7"/>
    <p:sldId id="340" r:id="rId8"/>
    <p:sldId id="375" r:id="rId9"/>
    <p:sldId id="335" r:id="rId10"/>
    <p:sldId id="373" r:id="rId11"/>
    <p:sldId id="342" r:id="rId12"/>
    <p:sldId id="341" r:id="rId13"/>
    <p:sldId id="374" r:id="rId14"/>
    <p:sldId id="376" r:id="rId15"/>
  </p:sldIdLst>
  <p:sldSz cx="9144000" cy="6858000" type="screen4x3"/>
  <p:notesSz cx="6819900" cy="99187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CAY AYDIN" initials="OA" lastIdx="1" clrIdx="0">
    <p:extLst>
      <p:ext uri="{19B8F6BF-5375-455C-9EA6-DF929625EA0E}">
        <p15:presenceInfo xmlns:p15="http://schemas.microsoft.com/office/powerpoint/2012/main" userId="265c04e6c59d543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D4C7BC"/>
    <a:srgbClr val="899094"/>
    <a:srgbClr val="BFBFB5"/>
    <a:srgbClr val="D5D0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1929DD-9E1F-4522-BB43-6C07E9125CDA}" v="12" dt="2025-12-22T20:46:05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>
        <p:scale>
          <a:sx n="100" d="100"/>
          <a:sy n="100" d="100"/>
        </p:scale>
        <p:origin x="494" y="-5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cay AYDIN" userId="831b5c0b-52bc-460b-8579-7877aa9a677b" providerId="ADAL" clId="{6FDD25E6-95F0-44D3-98D5-50F804BEF158}"/>
    <pc:docChg chg="undo custSel addSld modSld">
      <pc:chgData name="Olcay AYDIN" userId="831b5c0b-52bc-460b-8579-7877aa9a677b" providerId="ADAL" clId="{6FDD25E6-95F0-44D3-98D5-50F804BEF158}" dt="2025-12-22T20:46:15.661" v="201" actId="2890"/>
      <pc:docMkLst>
        <pc:docMk/>
      </pc:docMkLst>
      <pc:sldChg chg="addSp delSp modSp mod">
        <pc:chgData name="Olcay AYDIN" userId="831b5c0b-52bc-460b-8579-7877aa9a677b" providerId="ADAL" clId="{6FDD25E6-95F0-44D3-98D5-50F804BEF158}" dt="2025-12-22T20:34:05.585" v="30" actId="962"/>
        <pc:sldMkLst>
          <pc:docMk/>
          <pc:sldMk cId="3719782389" sldId="332"/>
        </pc:sldMkLst>
        <pc:picChg chg="add mod">
          <ac:chgData name="Olcay AYDIN" userId="831b5c0b-52bc-460b-8579-7877aa9a677b" providerId="ADAL" clId="{6FDD25E6-95F0-44D3-98D5-50F804BEF158}" dt="2025-12-22T20:34:05.585" v="30" actId="962"/>
          <ac:picMkLst>
            <pc:docMk/>
            <pc:sldMk cId="3719782389" sldId="332"/>
            <ac:picMk id="4" creationId="{1DDF42DB-6FF5-9455-AD52-AD173E363FD9}"/>
          </ac:picMkLst>
        </pc:picChg>
        <pc:picChg chg="del">
          <ac:chgData name="Olcay AYDIN" userId="831b5c0b-52bc-460b-8579-7877aa9a677b" providerId="ADAL" clId="{6FDD25E6-95F0-44D3-98D5-50F804BEF158}" dt="2025-12-22T20:34:04.278" v="27" actId="478"/>
          <ac:picMkLst>
            <pc:docMk/>
            <pc:sldMk cId="3719782389" sldId="332"/>
            <ac:picMk id="7" creationId="{7758F417-88BB-785A-5054-5D01216C7A89}"/>
          </ac:picMkLst>
        </pc:picChg>
      </pc:sldChg>
      <pc:sldChg chg="addSp delSp modSp mod">
        <pc:chgData name="Olcay AYDIN" userId="831b5c0b-52bc-460b-8579-7877aa9a677b" providerId="ADAL" clId="{6FDD25E6-95F0-44D3-98D5-50F804BEF158}" dt="2025-12-22T20:31:26.818" v="26" actId="14100"/>
        <pc:sldMkLst>
          <pc:docMk/>
          <pc:sldMk cId="860443036" sldId="338"/>
        </pc:sldMkLst>
        <pc:picChg chg="del">
          <ac:chgData name="Olcay AYDIN" userId="831b5c0b-52bc-460b-8579-7877aa9a677b" providerId="ADAL" clId="{6FDD25E6-95F0-44D3-98D5-50F804BEF158}" dt="2025-12-22T20:25:59.832" v="0" actId="478"/>
          <ac:picMkLst>
            <pc:docMk/>
            <pc:sldMk cId="860443036" sldId="338"/>
            <ac:picMk id="4" creationId="{F657B65D-AEBB-4192-FB5D-2C5669F7AE3F}"/>
          </ac:picMkLst>
        </pc:picChg>
        <pc:picChg chg="add del mod">
          <ac:chgData name="Olcay AYDIN" userId="831b5c0b-52bc-460b-8579-7877aa9a677b" providerId="ADAL" clId="{6FDD25E6-95F0-44D3-98D5-50F804BEF158}" dt="2025-12-22T20:26:20.090" v="7" actId="478"/>
          <ac:picMkLst>
            <pc:docMk/>
            <pc:sldMk cId="860443036" sldId="338"/>
            <ac:picMk id="5" creationId="{1657D59D-AEB0-966A-0A15-B6641182E409}"/>
          </ac:picMkLst>
        </pc:picChg>
        <pc:picChg chg="del">
          <ac:chgData name="Olcay AYDIN" userId="831b5c0b-52bc-460b-8579-7877aa9a677b" providerId="ADAL" clId="{6FDD25E6-95F0-44D3-98D5-50F804BEF158}" dt="2025-12-22T20:30:09.355" v="13" actId="478"/>
          <ac:picMkLst>
            <pc:docMk/>
            <pc:sldMk cId="860443036" sldId="338"/>
            <ac:picMk id="7" creationId="{4B099E5D-F189-9671-E1BF-3815E233234A}"/>
          </ac:picMkLst>
        </pc:picChg>
        <pc:picChg chg="add mod">
          <ac:chgData name="Olcay AYDIN" userId="831b5c0b-52bc-460b-8579-7877aa9a677b" providerId="ADAL" clId="{6FDD25E6-95F0-44D3-98D5-50F804BEF158}" dt="2025-12-22T20:27:03.002" v="12" actId="1076"/>
          <ac:picMkLst>
            <pc:docMk/>
            <pc:sldMk cId="860443036" sldId="338"/>
            <ac:picMk id="9" creationId="{7F2ED6EE-A68D-1FBA-A755-CF8577CB6DBA}"/>
          </ac:picMkLst>
        </pc:picChg>
        <pc:picChg chg="add del mod">
          <ac:chgData name="Olcay AYDIN" userId="831b5c0b-52bc-460b-8579-7877aa9a677b" providerId="ADAL" clId="{6FDD25E6-95F0-44D3-98D5-50F804BEF158}" dt="2025-12-22T20:30:17.803" v="19" actId="478"/>
          <ac:picMkLst>
            <pc:docMk/>
            <pc:sldMk cId="860443036" sldId="338"/>
            <ac:picMk id="12" creationId="{869D1E53-3C75-E27A-4733-D4F476D6BC11}"/>
          </ac:picMkLst>
        </pc:picChg>
        <pc:picChg chg="add mod">
          <ac:chgData name="Olcay AYDIN" userId="831b5c0b-52bc-460b-8579-7877aa9a677b" providerId="ADAL" clId="{6FDD25E6-95F0-44D3-98D5-50F804BEF158}" dt="2025-12-22T20:31:26.818" v="26" actId="14100"/>
          <ac:picMkLst>
            <pc:docMk/>
            <pc:sldMk cId="860443036" sldId="338"/>
            <ac:picMk id="14" creationId="{22323A1A-B8A8-1750-AC38-061DAB447C04}"/>
          </ac:picMkLst>
        </pc:picChg>
      </pc:sldChg>
      <pc:sldChg chg="modSp mod">
        <pc:chgData name="Olcay AYDIN" userId="831b5c0b-52bc-460b-8579-7877aa9a677b" providerId="ADAL" clId="{6FDD25E6-95F0-44D3-98D5-50F804BEF158}" dt="2025-12-22T20:41:57.315" v="154" actId="113"/>
        <pc:sldMkLst>
          <pc:docMk/>
          <pc:sldMk cId="2146961862" sldId="373"/>
        </pc:sldMkLst>
        <pc:spChg chg="mod">
          <ac:chgData name="Olcay AYDIN" userId="831b5c0b-52bc-460b-8579-7877aa9a677b" providerId="ADAL" clId="{6FDD25E6-95F0-44D3-98D5-50F804BEF158}" dt="2025-12-22T20:41:57.315" v="154" actId="113"/>
          <ac:spMkLst>
            <pc:docMk/>
            <pc:sldMk cId="2146961862" sldId="373"/>
            <ac:spMk id="11" creationId="{8A6B56AA-03A6-B088-44DC-C047E41BE81E}"/>
          </ac:spMkLst>
        </pc:spChg>
      </pc:sldChg>
      <pc:sldChg chg="modSp mod">
        <pc:chgData name="Olcay AYDIN" userId="831b5c0b-52bc-460b-8579-7877aa9a677b" providerId="ADAL" clId="{6FDD25E6-95F0-44D3-98D5-50F804BEF158}" dt="2025-12-22T20:46:05.564" v="200" actId="20577"/>
        <pc:sldMkLst>
          <pc:docMk/>
          <pc:sldMk cId="80303112" sldId="374"/>
        </pc:sldMkLst>
        <pc:spChg chg="mod">
          <ac:chgData name="Olcay AYDIN" userId="831b5c0b-52bc-460b-8579-7877aa9a677b" providerId="ADAL" clId="{6FDD25E6-95F0-44D3-98D5-50F804BEF158}" dt="2025-12-22T20:45:16.003" v="189" actId="20577"/>
          <ac:spMkLst>
            <pc:docMk/>
            <pc:sldMk cId="80303112" sldId="374"/>
            <ac:spMk id="4" creationId="{55AF5EB5-3287-41C4-2B98-0A377B782D25}"/>
          </ac:spMkLst>
        </pc:spChg>
        <pc:spChg chg="mod">
          <ac:chgData name="Olcay AYDIN" userId="831b5c0b-52bc-460b-8579-7877aa9a677b" providerId="ADAL" clId="{6FDD25E6-95F0-44D3-98D5-50F804BEF158}" dt="2025-12-22T20:46:05.564" v="200" actId="20577"/>
          <ac:spMkLst>
            <pc:docMk/>
            <pc:sldMk cId="80303112" sldId="374"/>
            <ac:spMk id="9" creationId="{88AF409F-AE1B-7841-461C-2485AB6201EB}"/>
          </ac:spMkLst>
        </pc:spChg>
      </pc:sldChg>
      <pc:sldChg chg="addSp delSp modSp mod">
        <pc:chgData name="Olcay AYDIN" userId="831b5c0b-52bc-460b-8579-7877aa9a677b" providerId="ADAL" clId="{6FDD25E6-95F0-44D3-98D5-50F804BEF158}" dt="2025-12-22T20:37:18.860" v="43" actId="1076"/>
        <pc:sldMkLst>
          <pc:docMk/>
          <pc:sldMk cId="4118684586" sldId="375"/>
        </pc:sldMkLst>
        <pc:spChg chg="add mod">
          <ac:chgData name="Olcay AYDIN" userId="831b5c0b-52bc-460b-8579-7877aa9a677b" providerId="ADAL" clId="{6FDD25E6-95F0-44D3-98D5-50F804BEF158}" dt="2025-12-22T20:34:51.940" v="35" actId="20577"/>
          <ac:spMkLst>
            <pc:docMk/>
            <pc:sldMk cId="4118684586" sldId="375"/>
            <ac:spMk id="5" creationId="{75772E0F-CA04-B601-A944-AA61DA83EF19}"/>
          </ac:spMkLst>
        </pc:spChg>
        <pc:picChg chg="add del">
          <ac:chgData name="Olcay AYDIN" userId="831b5c0b-52bc-460b-8579-7877aa9a677b" providerId="ADAL" clId="{6FDD25E6-95F0-44D3-98D5-50F804BEF158}" dt="2025-12-22T20:34:56.290" v="36" actId="478"/>
          <ac:picMkLst>
            <pc:docMk/>
            <pc:sldMk cId="4118684586" sldId="375"/>
            <ac:picMk id="7" creationId="{6AED4B48-EA17-0E71-B8A1-54D3892F22B8}"/>
          </ac:picMkLst>
        </pc:picChg>
        <pc:picChg chg="add mod">
          <ac:chgData name="Olcay AYDIN" userId="831b5c0b-52bc-460b-8579-7877aa9a677b" providerId="ADAL" clId="{6FDD25E6-95F0-44D3-98D5-50F804BEF158}" dt="2025-12-22T20:37:18.860" v="43" actId="1076"/>
          <ac:picMkLst>
            <pc:docMk/>
            <pc:sldMk cId="4118684586" sldId="375"/>
            <ac:picMk id="8" creationId="{673F0281-0975-FE72-F915-4731078AE322}"/>
          </ac:picMkLst>
        </pc:picChg>
      </pc:sldChg>
      <pc:sldChg chg="add">
        <pc:chgData name="Olcay AYDIN" userId="831b5c0b-52bc-460b-8579-7877aa9a677b" providerId="ADAL" clId="{6FDD25E6-95F0-44D3-98D5-50F804BEF158}" dt="2025-12-22T20:46:15.661" v="201" actId="2890"/>
        <pc:sldMkLst>
          <pc:docMk/>
          <pc:sldMk cId="2722000108" sldId="3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5290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tr-TR"/>
              <a:t>Bilimsel Yayın İnceleme Ödevi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sz="quarter" idx="1"/>
          </p:nvPr>
        </p:nvSpPr>
        <p:spPr>
          <a:xfrm>
            <a:off x="3863032" y="0"/>
            <a:ext cx="2955290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64DEE-330C-42C1-9AF3-CB6337D5EBC7}" type="datetimeFigureOut">
              <a:rPr lang="tr-TR" smtClean="0"/>
              <a:pPr/>
              <a:t>22.12.2025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2"/>
          </p:nvPr>
        </p:nvSpPr>
        <p:spPr>
          <a:xfrm>
            <a:off x="0" y="9421044"/>
            <a:ext cx="2955290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tr-TR"/>
              <a:t>188330115 KADİR ŞENOĞLU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3"/>
          </p:nvPr>
        </p:nvSpPr>
        <p:spPr>
          <a:xfrm>
            <a:off x="3863032" y="9421044"/>
            <a:ext cx="2955290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9B75DD-1231-43E4-9BCD-7712F4CD904F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888748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5290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tr-TR"/>
              <a:t>Bilimsel Yayın İnceleme Ödevi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63032" y="0"/>
            <a:ext cx="2955290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8966B-2F14-4633-B925-0B015B2D6E28}" type="datetimeFigureOut">
              <a:rPr lang="tr-TR" smtClean="0"/>
              <a:pPr/>
              <a:t>22.12.2025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44538"/>
            <a:ext cx="4959350" cy="3719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1990" y="4711383"/>
            <a:ext cx="5455920" cy="4463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9421044"/>
            <a:ext cx="2955290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tr-TR"/>
              <a:t>188330115 KADİR ŞENOĞLU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63032" y="9421044"/>
            <a:ext cx="2955290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0A379-049B-45D8-99DB-159D19BD4498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45802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6442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15754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93034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9674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63481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68219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6283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F4A1-7DC3-282E-C59E-37DC0456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>
            <a:extLst>
              <a:ext uri="{FF2B5EF4-FFF2-40B4-BE49-F238E27FC236}">
                <a16:creationId xmlns:a16="http://schemas.microsoft.com/office/drawing/2014/main" id="{FDC05EC7-2D6F-1506-AA8C-04203942C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>
            <a:extLst>
              <a:ext uri="{FF2B5EF4-FFF2-40B4-BE49-F238E27FC236}">
                <a16:creationId xmlns:a16="http://schemas.microsoft.com/office/drawing/2014/main" id="{ABC9BE53-3E58-6549-A6D8-758AC0A0C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3786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68259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7A5BD-CA8A-8DFA-E19D-330C4C55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>
            <a:extLst>
              <a:ext uri="{FF2B5EF4-FFF2-40B4-BE49-F238E27FC236}">
                <a16:creationId xmlns:a16="http://schemas.microsoft.com/office/drawing/2014/main" id="{3FB1594B-713E-AE4A-CBA9-D18CD9E4D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>
            <a:extLst>
              <a:ext uri="{FF2B5EF4-FFF2-40B4-BE49-F238E27FC236}">
                <a16:creationId xmlns:a16="http://schemas.microsoft.com/office/drawing/2014/main" id="{21DBDE43-B0C1-4BB3-568D-F288683AC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346114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4143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81393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C3D57-0BD2-AC45-0494-6C083650A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>
            <a:extLst>
              <a:ext uri="{FF2B5EF4-FFF2-40B4-BE49-F238E27FC236}">
                <a16:creationId xmlns:a16="http://schemas.microsoft.com/office/drawing/2014/main" id="{B88E33CF-8A67-8197-FA98-16E23047F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>
            <a:extLst>
              <a:ext uri="{FF2B5EF4-FFF2-40B4-BE49-F238E27FC236}">
                <a16:creationId xmlns:a16="http://schemas.microsoft.com/office/drawing/2014/main" id="{8E113B06-54A0-79D9-1792-6C6F8B39D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2096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1A7B9-5897-73C8-BC5C-5925D447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>
            <a:extLst>
              <a:ext uri="{FF2B5EF4-FFF2-40B4-BE49-F238E27FC236}">
                <a16:creationId xmlns:a16="http://schemas.microsoft.com/office/drawing/2014/main" id="{76486F41-CA49-0DB3-50BF-6406E9028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>
            <a:extLst>
              <a:ext uri="{FF2B5EF4-FFF2-40B4-BE49-F238E27FC236}">
                <a16:creationId xmlns:a16="http://schemas.microsoft.com/office/drawing/2014/main" id="{EFD74F9A-DA69-B674-CFE6-6AEF96DA9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66046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8040-A163-4FC2-912C-7E1E0DC2BDA3}" type="datetime1">
              <a:rPr lang="tr-TR" smtClean="0"/>
              <a:t>22.12.2025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188330115 KADİR ŞENOĞLU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8915-85FC-4C1D-BDF2-B767A4DB32FE}" type="datetime1">
              <a:rPr lang="tr-TR" smtClean="0"/>
              <a:t>22.12.2025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188330115 KADİR ŞENOĞLU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5696-906E-4B68-8A18-1DDEC73664CC}" type="datetime1">
              <a:rPr lang="tr-TR" smtClean="0"/>
              <a:t>22.12.2025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188330115 KADİR ŞENOĞLU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A15EA-D342-4B48-86CA-D38F71A29C06}" type="datetime1">
              <a:rPr lang="tr-TR" smtClean="0"/>
              <a:t>22.12.2025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188330115 KADİR ŞENOĞLU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BD4A-1234-4E8D-B90C-E6D002AEDD5E}" type="datetime1">
              <a:rPr lang="tr-TR" smtClean="0"/>
              <a:t>22.12.2025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188330115 KADİR ŞENOĞLU</a:t>
            </a:r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5D6E8-B7F3-42AD-A7C9-F188DA82518D}" type="datetime1">
              <a:rPr lang="tr-TR" smtClean="0"/>
              <a:t>22.12.2025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188330115 KADİR ŞENOĞLU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43BD-77FF-48CE-BC03-8261DF5DD5BA}" type="datetime1">
              <a:rPr lang="tr-TR" smtClean="0"/>
              <a:t>22.12.2025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188330115 KADİR ŞENOĞLU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074D-155E-441E-BA49-DDC3DB1DCD0B}" type="datetime1">
              <a:rPr lang="tr-TR" smtClean="0"/>
              <a:t>22.12.2025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188330115 KADİR ŞENOĞLU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6489B-9CE3-4D46-928D-4598A73F106E}" type="datetime1">
              <a:rPr lang="tr-TR" smtClean="0"/>
              <a:t>22.12.2025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188330115 KADİR ŞENOĞLU</a:t>
            </a: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37DD-56C3-4FFF-A800-4F9F7FBDF144}" type="datetime1">
              <a:rPr lang="tr-TR" smtClean="0"/>
              <a:t>22.12.2025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188330115 KADİR ŞENOĞLU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F9B3-AEC2-48E8-8F54-C372282FEE37}" type="datetime1">
              <a:rPr lang="tr-TR" smtClean="0"/>
              <a:t>22.12.2025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188330115 KADİR ŞENOĞLU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0E9FC-4581-4C5B-B07E-9FD0C95FDE77}" type="datetime1">
              <a:rPr lang="tr-TR" smtClean="0"/>
              <a:t>22.12.2025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tr-TR"/>
              <a:t>188330115 KADİR ŞENOĞLU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urgutlumyo.mcbu.edu.tr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ka.mcbu.edu.tr/WebFiles/Editor-22_55-YCFY221220222255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urgutlumyo.mcbu.edu.tr/db_images/file/Uygulama%20(Final)%20Raporu%20Format%C4%B1.docx" TargetMode="External"/><Relationship Id="rId4" Type="http://schemas.openxmlformats.org/officeDocument/2006/relationships/hyperlink" Target="https://turgutlumyo.mcbu.edu.tr/db_images/file/Ara%20(Vize)%20Raporu%20Format%C4%B1.docx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urgutlumyo.mcbu.edu.tr/db_images/file/Ara%20(Vize)%20Raporu%20Format%C4%B1.docx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urgutlumyo.mcbu.edu.tr/db_images/file/Uygulama%20(Final)%20Raporu%20Format%C4%B1.docx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turgutlumyo.mcbu.edu.tr/db_images/file/Ara%20(Vize)%20Raporu%20Format%C4%B1.docx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urgutlumyo.mcbu.edu.tr/db_images/file/Uygulama%20(Final)%20Raporu%20Format%C4%B1.doc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00002863\Desktop\diksiyo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086" y="625454"/>
            <a:ext cx="3096776" cy="308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4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6613736" y="6405542"/>
            <a:ext cx="2133600" cy="365125"/>
          </a:xfrm>
        </p:spPr>
        <p:txBody>
          <a:bodyPr/>
          <a:lstStyle/>
          <a:p>
            <a:fld id="{B1DEFA8C-F947-479F-BE07-76B6B3F80BF1}" type="slidenum">
              <a:rPr lang="tr-TR" smtClean="0"/>
              <a:pPr/>
              <a:t>1</a:t>
            </a:fld>
            <a:endParaRPr lang="tr-TR"/>
          </a:p>
        </p:txBody>
      </p:sp>
      <p:sp>
        <p:nvSpPr>
          <p:cNvPr id="23" name="15 Metin kutusu"/>
          <p:cNvSpPr txBox="1"/>
          <p:nvPr/>
        </p:nvSpPr>
        <p:spPr>
          <a:xfrm>
            <a:off x="2040248" y="798324"/>
            <a:ext cx="504056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tr-TR" sz="18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tr-TR" sz="3600" b="1" i="0" u="none" strike="noStrike" baseline="0" dirty="0">
                <a:solidFill>
                  <a:srgbClr val="FF0000"/>
                </a:solidFill>
                <a:latin typeface="Calibri" panose="020F0502020204030204" pitchFamily="34" charset="0"/>
              </a:rPr>
              <a:t>İşletmede</a:t>
            </a:r>
            <a:r>
              <a:rPr lang="tr-TR" sz="3600" b="1" i="0" u="none" strike="noStrike" dirty="0">
                <a:solidFill>
                  <a:srgbClr val="FF0000"/>
                </a:solidFill>
                <a:latin typeface="Calibri" panose="020F0502020204030204" pitchFamily="34" charset="0"/>
              </a:rPr>
              <a:t> Mesleki Eğitim</a:t>
            </a:r>
          </a:p>
          <a:p>
            <a:pPr algn="ctr"/>
            <a:r>
              <a:rPr lang="tr-TR" sz="20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(İş Yeri Uygulama Eğitimi) </a:t>
            </a:r>
          </a:p>
        </p:txBody>
      </p:sp>
      <p:grpSp>
        <p:nvGrpSpPr>
          <p:cNvPr id="16" name="Grup 15"/>
          <p:cNvGrpSpPr/>
          <p:nvPr/>
        </p:nvGrpSpPr>
        <p:grpSpPr>
          <a:xfrm rot="10800000">
            <a:off x="6231263" y="977625"/>
            <a:ext cx="2304256" cy="45719"/>
            <a:chOff x="521804" y="836712"/>
            <a:chExt cx="3618148" cy="63288"/>
          </a:xfrm>
        </p:grpSpPr>
        <p:cxnSp>
          <p:nvCxnSpPr>
            <p:cNvPr id="18" name="37 Düz Bağlayıcı"/>
            <p:cNvCxnSpPr/>
            <p:nvPr/>
          </p:nvCxnSpPr>
          <p:spPr>
            <a:xfrm flipH="1">
              <a:off x="521804" y="900000"/>
              <a:ext cx="360000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" name="34 Düz Bağlayıcı"/>
            <p:cNvCxnSpPr/>
            <p:nvPr/>
          </p:nvCxnSpPr>
          <p:spPr>
            <a:xfrm flipH="1">
              <a:off x="539952" y="864000"/>
              <a:ext cx="3600000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0" name="46 Düz Bağlayıcı"/>
            <p:cNvCxnSpPr/>
            <p:nvPr/>
          </p:nvCxnSpPr>
          <p:spPr>
            <a:xfrm flipH="1">
              <a:off x="521804" y="836712"/>
              <a:ext cx="360000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21" name="Grup 20"/>
          <p:cNvGrpSpPr/>
          <p:nvPr/>
        </p:nvGrpSpPr>
        <p:grpSpPr>
          <a:xfrm>
            <a:off x="677539" y="977624"/>
            <a:ext cx="2304256" cy="45719"/>
            <a:chOff x="521804" y="836712"/>
            <a:chExt cx="3618148" cy="63288"/>
          </a:xfrm>
        </p:grpSpPr>
        <p:cxnSp>
          <p:nvCxnSpPr>
            <p:cNvPr id="22" name="37 Düz Bağlayıcı"/>
            <p:cNvCxnSpPr/>
            <p:nvPr/>
          </p:nvCxnSpPr>
          <p:spPr>
            <a:xfrm flipH="1">
              <a:off x="521804" y="900000"/>
              <a:ext cx="360000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5" name="34 Düz Bağlayıcı"/>
            <p:cNvCxnSpPr/>
            <p:nvPr/>
          </p:nvCxnSpPr>
          <p:spPr>
            <a:xfrm flipH="1">
              <a:off x="539952" y="864000"/>
              <a:ext cx="3600000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6" name="46 Düz Bağlayıcı"/>
            <p:cNvCxnSpPr/>
            <p:nvPr/>
          </p:nvCxnSpPr>
          <p:spPr>
            <a:xfrm flipH="1">
              <a:off x="521804" y="836712"/>
              <a:ext cx="360000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pic>
        <p:nvPicPr>
          <p:cNvPr id="3" name="Picture 2" descr="sunumlarda uyuma ile ilgili görsel sonucu">
            <a:extLst>
              <a:ext uri="{FF2B5EF4-FFF2-40B4-BE49-F238E27FC236}">
                <a16:creationId xmlns:a16="http://schemas.microsoft.com/office/drawing/2014/main" id="{20686A37-1F13-40D8-866B-0BA77B17F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5160" y="3586769"/>
            <a:ext cx="3274702" cy="292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elal bayar üniversitesi logo ile ilgili görsel sonucu">
            <a:extLst>
              <a:ext uri="{FF2B5EF4-FFF2-40B4-BE49-F238E27FC236}">
                <a16:creationId xmlns:a16="http://schemas.microsoft.com/office/drawing/2014/main" id="{9167B5A9-6D37-4148-B25E-9AD3B1062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998" y="49192"/>
            <a:ext cx="95250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9D9DF24E-BB2C-4CFA-B7D5-3DF8EB43F1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36" y="1807765"/>
            <a:ext cx="2924175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4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2</a:t>
            </a:fld>
            <a:endParaRPr lang="tr-TR"/>
          </a:p>
        </p:txBody>
      </p:sp>
      <p:grpSp>
        <p:nvGrpSpPr>
          <p:cNvPr id="3" name="Grup 2"/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/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/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/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3" name="22 Metin kutusu"/>
          <p:cNvSpPr txBox="1"/>
          <p:nvPr/>
        </p:nvSpPr>
        <p:spPr>
          <a:xfrm>
            <a:off x="1151689" y="375047"/>
            <a:ext cx="4497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>
                <a:latin typeface="Times New Roman" pitchFamily="18" charset="0"/>
                <a:cs typeface="Times New Roman" pitchFamily="18" charset="0"/>
              </a:rPr>
              <a:t>İş Yeri Uygulama Eğitimi Nedir?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31B68EF-4DA1-4119-ADDA-792D02F0B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362" y="4000500"/>
            <a:ext cx="5629275" cy="2857500"/>
          </a:xfrm>
          <a:prstGeom prst="rect">
            <a:avLst/>
          </a:prstGeom>
        </p:spPr>
      </p:pic>
      <p:sp>
        <p:nvSpPr>
          <p:cNvPr id="19" name="17 Oval Belirtme Çizgisi">
            <a:extLst>
              <a:ext uri="{FF2B5EF4-FFF2-40B4-BE49-F238E27FC236}">
                <a16:creationId xmlns:a16="http://schemas.microsoft.com/office/drawing/2014/main" id="{7AE11099-35E1-4635-8DDD-01266E7DDF7E}"/>
              </a:ext>
            </a:extLst>
          </p:cNvPr>
          <p:cNvSpPr/>
          <p:nvPr/>
        </p:nvSpPr>
        <p:spPr>
          <a:xfrm>
            <a:off x="611560" y="1628800"/>
            <a:ext cx="2592288" cy="1800199"/>
          </a:xfrm>
          <a:prstGeom prst="cloudCallout">
            <a:avLst>
              <a:gd name="adj1" fmla="val 112666"/>
              <a:gd name="adj2" fmla="val 119755"/>
            </a:avLst>
          </a:prstGeom>
          <a:solidFill>
            <a:srgbClr val="FF0000"/>
          </a:solidFill>
          <a:ln w="19050">
            <a:solidFill>
              <a:schemeClr val="tx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tr-TR" sz="1600" dirty="0">
                <a:solidFill>
                  <a:srgbClr val="000000"/>
                </a:solidFill>
                <a:latin typeface="+mj-lt"/>
              </a:rPr>
              <a:t>İş</a:t>
            </a:r>
            <a:r>
              <a:rPr lang="tr-TR" sz="1600" b="1" i="0" u="none" strike="noStrike" baseline="0" dirty="0">
                <a:solidFill>
                  <a:srgbClr val="2B2E31"/>
                </a:solidFill>
                <a:latin typeface="+mj-lt"/>
              </a:rPr>
              <a:t> Yeri Uygulama Eğitimi </a:t>
            </a:r>
            <a:r>
              <a:rPr lang="tr-TR" sz="1600" b="0" i="0" u="none" strike="noStrike" baseline="0" dirty="0">
                <a:solidFill>
                  <a:srgbClr val="000000"/>
                </a:solidFill>
                <a:latin typeface="+mj-lt"/>
              </a:rPr>
              <a:t>kesinlikle bir </a:t>
            </a:r>
            <a:r>
              <a:rPr lang="tr-TR" sz="1600" b="1" i="0" u="none" strike="noStrike" baseline="0" dirty="0">
                <a:solidFill>
                  <a:srgbClr val="000000"/>
                </a:solidFill>
                <a:latin typeface="+mj-lt"/>
              </a:rPr>
              <a:t>staj programı değildir</a:t>
            </a:r>
            <a:r>
              <a:rPr lang="tr-TR" sz="1600" b="0" i="0" u="none" strike="noStrike" baseline="0" dirty="0">
                <a:solidFill>
                  <a:srgbClr val="000000"/>
                </a:solidFill>
                <a:latin typeface="+mj-lt"/>
              </a:rPr>
              <a:t>.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74C0711D-D048-0B7B-B551-2960AF88E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871056"/>
              </p:ext>
            </p:extLst>
          </p:nvPr>
        </p:nvGraphicFramePr>
        <p:xfrm>
          <a:off x="4175396" y="1021207"/>
          <a:ext cx="4755608" cy="2853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804">
                  <a:extLst>
                    <a:ext uri="{9D8B030D-6E8A-4147-A177-3AD203B41FA5}">
                      <a16:colId xmlns:a16="http://schemas.microsoft.com/office/drawing/2014/main" val="1737515995"/>
                    </a:ext>
                  </a:extLst>
                </a:gridCol>
                <a:gridCol w="2377804">
                  <a:extLst>
                    <a:ext uri="{9D8B030D-6E8A-4147-A177-3AD203B41FA5}">
                      <a16:colId xmlns:a16="http://schemas.microsoft.com/office/drawing/2014/main" val="3678673395"/>
                    </a:ext>
                  </a:extLst>
                </a:gridCol>
              </a:tblGrid>
              <a:tr h="546726">
                <a:tc gridSpan="2">
                  <a:txBody>
                    <a:bodyPr/>
                    <a:lstStyle/>
                    <a:p>
                      <a:pPr algn="ctr"/>
                      <a:r>
                        <a:rPr lang="tr-TR" sz="1200" dirty="0">
                          <a:solidFill>
                            <a:srgbClr val="FF0000"/>
                          </a:solidFill>
                        </a:rPr>
                        <a:t>TURGUTLU MYO. </a:t>
                      </a:r>
                      <a:br>
                        <a:rPr lang="tr-TR" sz="1200" dirty="0">
                          <a:solidFill>
                            <a:srgbClr val="FF0000"/>
                          </a:solidFill>
                        </a:rPr>
                      </a:br>
                      <a:r>
                        <a:rPr lang="tr-TR" sz="1200" dirty="0">
                          <a:solidFill>
                            <a:srgbClr val="FF0000"/>
                          </a:solidFill>
                        </a:rPr>
                        <a:t>İŞLETMEDE MESLEKİ EĞİTİM TAKİP KOMİSYONU PERSONELİ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170903"/>
                  </a:ext>
                </a:extLst>
              </a:tr>
              <a:tr h="257193">
                <a:tc>
                  <a:txBody>
                    <a:bodyPr/>
                    <a:lstStyle/>
                    <a:p>
                      <a:r>
                        <a:rPr lang="it-IT" sz="1200" b="1" dirty="0"/>
                        <a:t>Adı Soyadı</a:t>
                      </a:r>
                      <a:endParaRPr lang="tr-T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Murat DAŞDELEN </a:t>
                      </a:r>
                      <a:endParaRPr lang="tr-T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988505"/>
                  </a:ext>
                </a:extLst>
              </a:tr>
              <a:tr h="390519">
                <a:tc>
                  <a:txBody>
                    <a:bodyPr/>
                    <a:lstStyle/>
                    <a:p>
                      <a:r>
                        <a:rPr lang="it-IT" sz="1200" b="1" dirty="0"/>
                        <a:t>E-posta</a:t>
                      </a:r>
                      <a:endParaRPr lang="tr-T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turgutlumyo.istak@cbu.edu.tr</a:t>
                      </a:r>
                      <a:endParaRPr lang="tr-T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721867"/>
                  </a:ext>
                </a:extLst>
              </a:tr>
              <a:tr h="5132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it-IT" sz="1200" b="1" dirty="0"/>
                        <a:t>Telefon</a:t>
                      </a:r>
                      <a:endParaRPr lang="tr-T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dirty="0"/>
                        <a:t>0236 314 63 63</a:t>
                      </a:r>
                    </a:p>
                    <a:p>
                      <a:r>
                        <a:rPr lang="it-IT" sz="1200" dirty="0"/>
                        <a:t>0236 313 55 02 / 107 </a:t>
                      </a:r>
                      <a:endParaRPr lang="tr-T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034152"/>
                  </a:ext>
                </a:extLst>
              </a:tr>
              <a:tr h="1129083"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</a:pPr>
                      <a:r>
                        <a:rPr lang="tr-TR" sz="1200" b="1" kern="1200" dirty="0">
                          <a:solidFill>
                            <a:schemeClr val="dk1"/>
                          </a:solidFill>
                        </a:rPr>
                        <a:t>Adres</a:t>
                      </a:r>
                      <a:endParaRPr lang="tr-T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dirty="0"/>
                        <a:t>Manisa Celal Bayar </a:t>
                      </a:r>
                      <a:r>
                        <a:rPr lang="tr-TR" sz="1200" dirty="0" err="1"/>
                        <a:t>Ünv</a:t>
                      </a:r>
                      <a:r>
                        <a:rPr lang="tr-TR" sz="1200" dirty="0"/>
                        <a:t>. Turgutlu Meslek Yüksekokulu Albayrak Mah. </a:t>
                      </a:r>
                      <a:r>
                        <a:rPr lang="tr-TR" sz="1200" dirty="0" err="1"/>
                        <a:t>Hatboyu</a:t>
                      </a:r>
                      <a:r>
                        <a:rPr lang="tr-TR" sz="1200" dirty="0"/>
                        <a:t> Sokak. No:2645400 Turgutlu MANİSA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783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18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4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3</a:t>
            </a:fld>
            <a:endParaRPr lang="tr-TR"/>
          </a:p>
        </p:txBody>
      </p:sp>
      <p:grpSp>
        <p:nvGrpSpPr>
          <p:cNvPr id="3" name="Grup 2"/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/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/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/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3" name="22 Metin kutusu"/>
          <p:cNvSpPr txBox="1"/>
          <p:nvPr/>
        </p:nvSpPr>
        <p:spPr>
          <a:xfrm>
            <a:off x="1151689" y="375047"/>
            <a:ext cx="4497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>
                <a:latin typeface="Times New Roman" pitchFamily="18" charset="0"/>
                <a:cs typeface="Times New Roman" pitchFamily="18" charset="0"/>
              </a:rPr>
              <a:t>İş Yeri Uygulama Eğitimi Nedir?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9C1F42C-0F6B-401F-96F1-730C5D842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8" y="1262738"/>
            <a:ext cx="4625934" cy="3318605"/>
          </a:xfrm>
          <a:prstGeom prst="rect">
            <a:avLst/>
          </a:prstGeom>
        </p:spPr>
      </p:pic>
      <p:sp>
        <p:nvSpPr>
          <p:cNvPr id="20" name="17 Oval Belirtme Çizgisi">
            <a:extLst>
              <a:ext uri="{FF2B5EF4-FFF2-40B4-BE49-F238E27FC236}">
                <a16:creationId xmlns:a16="http://schemas.microsoft.com/office/drawing/2014/main" id="{7E20DDA4-7A02-4A4B-8CBF-4C7D8F5395B8}"/>
              </a:ext>
            </a:extLst>
          </p:cNvPr>
          <p:cNvSpPr/>
          <p:nvPr/>
        </p:nvSpPr>
        <p:spPr>
          <a:xfrm>
            <a:off x="5153146" y="2429602"/>
            <a:ext cx="4625934" cy="4428397"/>
          </a:xfrm>
          <a:prstGeom prst="wedgeEllipseCallout">
            <a:avLst>
              <a:gd name="adj1" fmla="val -79866"/>
              <a:gd name="adj2" fmla="val -22786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chemeClr val="tx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tr-TR" sz="1700" dirty="0">
                <a:solidFill>
                  <a:srgbClr val="000000"/>
                </a:solidFill>
                <a:latin typeface="CenturyGothic"/>
              </a:rPr>
              <a:t>İş Yeri Uygulama Eğitimi, öğretim programlarının  son dönemine konulmuş bir ders olup, </a:t>
            </a:r>
            <a:r>
              <a:rPr lang="tr-TR" sz="1700" b="1" dirty="0">
                <a:solidFill>
                  <a:srgbClr val="000000"/>
                </a:solidFill>
                <a:latin typeface="CenturyGothic"/>
              </a:rPr>
              <a:t>%90 devam zorunluluğu olan</a:t>
            </a:r>
            <a:r>
              <a:rPr lang="tr-TR" sz="1700" dirty="0">
                <a:solidFill>
                  <a:srgbClr val="000000"/>
                </a:solidFill>
                <a:latin typeface="CenturyGothic"/>
              </a:rPr>
              <a:t>, iş yerlerinde tam zamanlı olarak yapılması gereken, öğrencilerimizi uygulama becerisi yüksek, nitelikli öğrenciler olarak mezun etmek amacıyla uygulamaya konulan yeni bir uygulamalı eğitim modelidir.</a:t>
            </a:r>
            <a:endParaRPr lang="tr-TR" sz="1700" b="0" i="0" u="none" strike="noStrike" baseline="0" dirty="0">
              <a:solidFill>
                <a:srgbClr val="000000"/>
              </a:solidFill>
              <a:latin typeface="CenturyGothic"/>
            </a:endParaRPr>
          </a:p>
        </p:txBody>
      </p:sp>
    </p:spTree>
    <p:extLst>
      <p:ext uri="{BB962C8B-B14F-4D97-AF65-F5344CB8AC3E}">
        <p14:creationId xmlns:p14="http://schemas.microsoft.com/office/powerpoint/2010/main" val="159292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edefler ile ilgili görsel sonucu">
            <a:extLst>
              <a:ext uri="{FF2B5EF4-FFF2-40B4-BE49-F238E27FC236}">
                <a16:creationId xmlns:a16="http://schemas.microsoft.com/office/drawing/2014/main" id="{532C6C3D-067F-42EC-BF26-1004DC026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185" y="70253"/>
            <a:ext cx="3425062" cy="342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4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4</a:t>
            </a:fld>
            <a:endParaRPr lang="tr-TR"/>
          </a:p>
        </p:txBody>
      </p:sp>
      <p:grpSp>
        <p:nvGrpSpPr>
          <p:cNvPr id="3" name="Grup 2"/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/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/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/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3" name="22 Metin kutusu"/>
          <p:cNvSpPr txBox="1"/>
          <p:nvPr/>
        </p:nvSpPr>
        <p:spPr>
          <a:xfrm>
            <a:off x="1151689" y="375047"/>
            <a:ext cx="4819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>
                <a:latin typeface="Times New Roman" pitchFamily="18" charset="0"/>
                <a:cs typeface="Times New Roman" pitchFamily="18" charset="0"/>
              </a:rPr>
              <a:t>İş Yeri Uygulama Eğitimi Hedefleri</a:t>
            </a:r>
          </a:p>
        </p:txBody>
      </p:sp>
      <p:sp>
        <p:nvSpPr>
          <p:cNvPr id="5" name="Ok: Sağ 4">
            <a:extLst>
              <a:ext uri="{FF2B5EF4-FFF2-40B4-BE49-F238E27FC236}">
                <a16:creationId xmlns:a16="http://schemas.microsoft.com/office/drawing/2014/main" id="{9BB687A4-1CCF-4F98-B691-E02DC065BBC2}"/>
              </a:ext>
            </a:extLst>
          </p:cNvPr>
          <p:cNvSpPr/>
          <p:nvPr/>
        </p:nvSpPr>
        <p:spPr>
          <a:xfrm>
            <a:off x="309697" y="2322967"/>
            <a:ext cx="6296356" cy="122411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tr-TR" sz="1600" b="0" i="0" u="none" strike="noStrike" baseline="0" dirty="0">
                <a:solidFill>
                  <a:schemeClr val="tx1"/>
                </a:solidFill>
                <a:latin typeface="CenturyGothic"/>
              </a:rPr>
              <a:t>Mezun öğrencilerimizin nitelikli istidam edilebilirliklerini artırmak,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6" name="Ok: Sağ 15">
            <a:extLst>
              <a:ext uri="{FF2B5EF4-FFF2-40B4-BE49-F238E27FC236}">
                <a16:creationId xmlns:a16="http://schemas.microsoft.com/office/drawing/2014/main" id="{0271DCE2-3C7D-45A7-B711-4B45E044B929}"/>
              </a:ext>
            </a:extLst>
          </p:cNvPr>
          <p:cNvSpPr/>
          <p:nvPr/>
        </p:nvSpPr>
        <p:spPr>
          <a:xfrm>
            <a:off x="252499" y="5497365"/>
            <a:ext cx="6266919" cy="12241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tr-TR" sz="1600" b="0" i="0" u="none" strike="noStrike" baseline="0" dirty="0">
                <a:solidFill>
                  <a:srgbClr val="FF0000"/>
                </a:solidFill>
                <a:latin typeface="CenturyGothic"/>
              </a:rPr>
              <a:t>Daha dinamik üniversite - sanayi işbirliği oluşturmak.</a:t>
            </a:r>
            <a:endParaRPr lang="tr-TR" sz="1600" dirty="0">
              <a:solidFill>
                <a:srgbClr val="FF0000"/>
              </a:solidFill>
            </a:endParaRPr>
          </a:p>
        </p:txBody>
      </p:sp>
      <p:sp>
        <p:nvSpPr>
          <p:cNvPr id="17" name="Ok: Sağ 16">
            <a:extLst>
              <a:ext uri="{FF2B5EF4-FFF2-40B4-BE49-F238E27FC236}">
                <a16:creationId xmlns:a16="http://schemas.microsoft.com/office/drawing/2014/main" id="{927B4ECD-5A6F-4BEE-B4DD-5EBB6892151E}"/>
              </a:ext>
            </a:extLst>
          </p:cNvPr>
          <p:cNvSpPr/>
          <p:nvPr/>
        </p:nvSpPr>
        <p:spPr>
          <a:xfrm>
            <a:off x="338297" y="3910166"/>
            <a:ext cx="6267756" cy="122411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tr-TR" sz="1600" b="0" i="0" u="none" strike="noStrike" baseline="0" dirty="0">
                <a:latin typeface="CenturyGothic"/>
              </a:rPr>
              <a:t>İş dünyamızın nitelikli iş gücü talebini karşılamak,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199492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16" grpId="0" build="p" animBg="1"/>
      <p:bldP spid="17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4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23" name="22 Metin kutusu"/>
          <p:cNvSpPr txBox="1"/>
          <p:nvPr/>
        </p:nvSpPr>
        <p:spPr>
          <a:xfrm>
            <a:off x="1151689" y="375047"/>
            <a:ext cx="6097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>
                <a:latin typeface="Times New Roman" pitchFamily="18" charset="0"/>
                <a:cs typeface="Times New Roman" pitchFamily="18" charset="0"/>
              </a:rPr>
              <a:t>İş Yeri Uygulama Eğitimi Uygulama Takvimi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EC9EBF3D-0FA5-4A4D-993A-161D69A02760}"/>
              </a:ext>
            </a:extLst>
          </p:cNvPr>
          <p:cNvSpPr txBox="1"/>
          <p:nvPr/>
        </p:nvSpPr>
        <p:spPr>
          <a:xfrm>
            <a:off x="4716232" y="617248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İşletmede Mesleki Eğitim ile ilgili bilgiler:</a:t>
            </a:r>
          </a:p>
          <a:p>
            <a:r>
              <a:rPr lang="tr-TR" dirty="0">
                <a:hlinkClick r:id="rId3"/>
              </a:rPr>
              <a:t>https://turgutlumyo.mcbu.edu.tr/</a:t>
            </a:r>
            <a:endParaRPr lang="tr-TR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5230935D-59CB-7C81-6790-6B9480D0E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954504"/>
            <a:ext cx="1895475" cy="2333625"/>
          </a:xfrm>
          <a:prstGeom prst="rect">
            <a:avLst/>
          </a:prstGeom>
        </p:spPr>
      </p:pic>
      <p:grpSp>
        <p:nvGrpSpPr>
          <p:cNvPr id="3" name="Grup 2"/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/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/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/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pic>
        <p:nvPicPr>
          <p:cNvPr id="9" name="Resim 8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F2ED6EE-A68D-1FBA-A755-CF8577CB6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96" y="1116032"/>
            <a:ext cx="4885941" cy="3449364"/>
          </a:xfrm>
          <a:prstGeom prst="rect">
            <a:avLst/>
          </a:prstGeom>
        </p:spPr>
      </p:pic>
      <p:pic>
        <p:nvPicPr>
          <p:cNvPr id="14" name="Resim 13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2323A1A-B8A8-1750-AC38-061DAB447C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248" y="3467000"/>
            <a:ext cx="4276396" cy="179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43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4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6</a:t>
            </a:fld>
            <a:endParaRPr lang="tr-TR"/>
          </a:p>
        </p:txBody>
      </p:sp>
      <p:grpSp>
        <p:nvGrpSpPr>
          <p:cNvPr id="3" name="Grup 2"/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/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/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/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3" name="22 Metin kutusu"/>
          <p:cNvSpPr txBox="1"/>
          <p:nvPr/>
        </p:nvSpPr>
        <p:spPr>
          <a:xfrm>
            <a:off x="1151689" y="375047"/>
            <a:ext cx="4513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>
                <a:latin typeface="Times New Roman" pitchFamily="18" charset="0"/>
                <a:cs typeface="Times New Roman" pitchFamily="18" charset="0"/>
              </a:rPr>
              <a:t>İş Yeri Uygulama Eğitimi Modeli</a:t>
            </a:r>
          </a:p>
        </p:txBody>
      </p:sp>
      <p:pic>
        <p:nvPicPr>
          <p:cNvPr id="4" name="Resim 3" descr="metin, ekran görüntüsü, yazı tipi, dair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DDF42DB-6FF5-9455-AD52-AD173E363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471612"/>
            <a:ext cx="89916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82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4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7</a:t>
            </a:fld>
            <a:endParaRPr lang="tr-TR"/>
          </a:p>
        </p:txBody>
      </p:sp>
      <p:grpSp>
        <p:nvGrpSpPr>
          <p:cNvPr id="3" name="Grup 2"/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/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/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/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3" name="22 Metin kutusu"/>
          <p:cNvSpPr txBox="1"/>
          <p:nvPr/>
        </p:nvSpPr>
        <p:spPr>
          <a:xfrm>
            <a:off x="234653" y="77940"/>
            <a:ext cx="35157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>
                <a:latin typeface="Times New Roman" pitchFamily="18" charset="0"/>
                <a:cs typeface="Times New Roman" pitchFamily="18" charset="0"/>
              </a:rPr>
              <a:t>Eğitime Başlama Şartları</a:t>
            </a:r>
          </a:p>
        </p:txBody>
      </p:sp>
      <p:pic>
        <p:nvPicPr>
          <p:cNvPr id="2050" name="Picture 2" descr="eğitim şartları komik ile ilgili görsel sonucu">
            <a:extLst>
              <a:ext uri="{FF2B5EF4-FFF2-40B4-BE49-F238E27FC236}">
                <a16:creationId xmlns:a16="http://schemas.microsoft.com/office/drawing/2014/main" id="{773D7EBF-4212-411C-8627-2DBAF2C99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5223"/>
            <a:ext cx="2984178" cy="2946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aralelkenar 7">
            <a:extLst>
              <a:ext uri="{FF2B5EF4-FFF2-40B4-BE49-F238E27FC236}">
                <a16:creationId xmlns:a16="http://schemas.microsoft.com/office/drawing/2014/main" id="{2B5A2A11-4D39-4E92-8A99-6E49D263C921}"/>
              </a:ext>
            </a:extLst>
          </p:cNvPr>
          <p:cNvSpPr/>
          <p:nvPr/>
        </p:nvSpPr>
        <p:spPr>
          <a:xfrm>
            <a:off x="2770464" y="2982180"/>
            <a:ext cx="6373536" cy="3739287"/>
          </a:xfrm>
          <a:prstGeom prst="parallelogram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tr-TR" sz="1800" b="0" i="0" u="none" strike="noStrike" baseline="0" dirty="0">
                <a:solidFill>
                  <a:srgbClr val="000000"/>
                </a:solidFill>
                <a:latin typeface="+mj-lt"/>
              </a:rPr>
              <a:t>      </a:t>
            </a:r>
          </a:p>
          <a:p>
            <a:pPr algn="just"/>
            <a:endParaRPr lang="tr-TR" dirty="0">
              <a:solidFill>
                <a:srgbClr val="000000"/>
              </a:solidFill>
              <a:latin typeface="+mj-lt"/>
            </a:endParaRPr>
          </a:p>
          <a:p>
            <a:pPr algn="just"/>
            <a:r>
              <a:rPr lang="tr-TR" sz="1600" b="0" i="0" u="none" strike="noStrike" baseline="0" dirty="0">
                <a:solidFill>
                  <a:srgbClr val="000000"/>
                </a:solidFill>
                <a:latin typeface="+mj-lt"/>
              </a:rPr>
              <a:t>Son dönem öncesi;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tr-TR" sz="1600" b="0" i="0" u="none" strike="noStrike" baseline="0" dirty="0">
                <a:solidFill>
                  <a:srgbClr val="FFC100"/>
                </a:solidFill>
                <a:latin typeface="+mj-lt"/>
              </a:rPr>
              <a:t> </a:t>
            </a:r>
            <a:r>
              <a:rPr lang="tr-TR" sz="1600" b="1" i="0" u="none" strike="noStrike" baseline="0" dirty="0">
                <a:solidFill>
                  <a:srgbClr val="2B2E31"/>
                </a:solidFill>
                <a:latin typeface="+mj-lt"/>
              </a:rPr>
              <a:t>Tüm dersleri almış </a:t>
            </a:r>
            <a:r>
              <a:rPr lang="tr-TR" sz="1600" b="0" i="0" u="none" strike="noStrike" baseline="0" dirty="0">
                <a:solidFill>
                  <a:srgbClr val="2B2E31"/>
                </a:solidFill>
                <a:latin typeface="+mj-lt"/>
              </a:rPr>
              <a:t>ve </a:t>
            </a:r>
            <a:r>
              <a:rPr lang="tr-TR" sz="1600" b="1" i="0" u="none" strike="noStrike" baseline="0" dirty="0">
                <a:solidFill>
                  <a:srgbClr val="2B2E31"/>
                </a:solidFill>
                <a:latin typeface="+mj-lt"/>
              </a:rPr>
              <a:t>başarmış </a:t>
            </a:r>
            <a:r>
              <a:rPr lang="tr-TR" sz="1600" b="0" i="0" u="none" strike="noStrike" baseline="0" dirty="0">
                <a:solidFill>
                  <a:srgbClr val="2B2E31"/>
                </a:solidFill>
                <a:latin typeface="+mj-lt"/>
              </a:rPr>
              <a:t>olmak,</a:t>
            </a:r>
          </a:p>
          <a:p>
            <a:pPr algn="just"/>
            <a:endParaRPr lang="tr-TR" sz="1600" b="0" i="0" u="none" strike="noStrike" baseline="0" dirty="0">
              <a:solidFill>
                <a:srgbClr val="2B2E31"/>
              </a:solidFill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tr-TR" sz="1600" b="0" i="0" u="none" strike="noStrike" baseline="0" dirty="0">
                <a:solidFill>
                  <a:srgbClr val="FFC100"/>
                </a:solidFill>
                <a:latin typeface="+mj-lt"/>
              </a:rPr>
              <a:t> </a:t>
            </a:r>
            <a:r>
              <a:rPr lang="tr-TR" sz="1600" b="0" i="0" u="none" strike="noStrike" baseline="0" dirty="0">
                <a:solidFill>
                  <a:srgbClr val="000000"/>
                </a:solidFill>
                <a:latin typeface="+mj-lt"/>
              </a:rPr>
              <a:t>Eğitime</a:t>
            </a:r>
            <a:r>
              <a:rPr lang="tr-TR" sz="1600" b="0" i="0" u="none" strike="noStrike" dirty="0">
                <a:solidFill>
                  <a:srgbClr val="000000"/>
                </a:solidFill>
                <a:latin typeface="+mj-lt"/>
              </a:rPr>
              <a:t> başlamak için en az </a:t>
            </a:r>
            <a:r>
              <a:rPr lang="tr-TR" sz="1600" b="1" i="0" u="none" strike="noStrike" dirty="0">
                <a:solidFill>
                  <a:srgbClr val="000000"/>
                </a:solidFill>
                <a:latin typeface="+mj-lt"/>
              </a:rPr>
              <a:t>2.00 GANO aranır.</a:t>
            </a:r>
            <a:endParaRPr lang="tr-TR" sz="1600" b="1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algn="just"/>
            <a:endParaRPr lang="tr-TR" sz="16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tr-TR" sz="1600" b="0" i="0" u="none" strike="noStrike" baseline="0" dirty="0">
                <a:solidFill>
                  <a:srgbClr val="FFD800"/>
                </a:solidFill>
                <a:latin typeface="+mj-lt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+mj-lt"/>
              </a:rPr>
              <a:t>Son dönem öncesi, en fazla üç dersin kalması ve/veya </a:t>
            </a:r>
            <a:r>
              <a:rPr lang="tr-TR" sz="1600" dirty="0" err="1">
                <a:solidFill>
                  <a:srgbClr val="000000"/>
                </a:solidFill>
                <a:latin typeface="+mj-lt"/>
              </a:rPr>
              <a:t>GANO’nun</a:t>
            </a:r>
            <a:r>
              <a:rPr lang="tr-TR" sz="1600" dirty="0">
                <a:solidFill>
                  <a:srgbClr val="000000"/>
                </a:solidFill>
                <a:latin typeface="+mj-lt"/>
              </a:rPr>
              <a:t> 2.00 dan düşük olması durumunda şartların sağlayabilmesi için </a:t>
            </a:r>
            <a:r>
              <a:rPr lang="tr-TR" sz="1600" b="1" i="0" u="none" strike="noStrike" baseline="0" dirty="0">
                <a:solidFill>
                  <a:srgbClr val="2B2E31"/>
                </a:solidFill>
                <a:latin typeface="+mj-lt"/>
              </a:rPr>
              <a:t>üç dersten ek sınav hakkı </a:t>
            </a:r>
            <a:r>
              <a:rPr lang="tr-TR" sz="1600" b="0" i="0" u="none" strike="noStrike" baseline="0" dirty="0">
                <a:solidFill>
                  <a:srgbClr val="000000"/>
                </a:solidFill>
                <a:latin typeface="+mj-lt"/>
              </a:rPr>
              <a:t>verilir.</a:t>
            </a:r>
          </a:p>
          <a:p>
            <a:pPr algn="just"/>
            <a:endParaRPr lang="tr-TR" sz="16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tr-TR" sz="1600" b="0" i="0" u="none" strike="noStrike" baseline="0" dirty="0">
                <a:solidFill>
                  <a:srgbClr val="FFD800"/>
                </a:solidFill>
                <a:latin typeface="+mj-lt"/>
              </a:rPr>
              <a:t> </a:t>
            </a:r>
            <a:r>
              <a:rPr lang="tr-TR" sz="1600" b="0" i="0" u="none" strike="noStrike" baseline="0" dirty="0">
                <a:solidFill>
                  <a:srgbClr val="000000"/>
                </a:solidFill>
                <a:latin typeface="+mj-lt"/>
              </a:rPr>
              <a:t>Mezuniyet şartlarını sağlayamayan öğrenciler </a:t>
            </a:r>
            <a:r>
              <a:rPr lang="tr-TR" sz="1600" b="1" i="0" u="none" strike="noStrike" baseline="0" dirty="0">
                <a:solidFill>
                  <a:srgbClr val="2B2E31"/>
                </a:solidFill>
                <a:latin typeface="+mj-lt"/>
              </a:rPr>
              <a:t>«İş Yeri Uygulama Eğitimi» </a:t>
            </a:r>
            <a:r>
              <a:rPr lang="tr-TR" sz="1600" b="0" i="0" u="none" strike="noStrike" baseline="0" dirty="0">
                <a:solidFill>
                  <a:srgbClr val="000000"/>
                </a:solidFill>
                <a:latin typeface="+mj-lt"/>
              </a:rPr>
              <a:t>ne başlayamazlar, şartlar sağlayabildikleri ilk dönemde İş Yeri Uygulama Eğitimi’ne başlayabilirler.</a:t>
            </a:r>
            <a:endParaRPr lang="tr-TR" sz="1600" dirty="0">
              <a:latin typeface="+mj-lt"/>
            </a:endParaRPr>
          </a:p>
          <a:p>
            <a:pPr algn="ctr"/>
            <a:endParaRPr lang="tr-TR" dirty="0">
              <a:latin typeface="+mj-lt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4F6070E-E8B0-57E0-38D1-65FF02129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429" y="446178"/>
            <a:ext cx="5536377" cy="248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1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89A8F-693F-7DBA-9007-E8919E343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45 Slayt Numarası Yer Tutucusu">
            <a:extLst>
              <a:ext uri="{FF2B5EF4-FFF2-40B4-BE49-F238E27FC236}">
                <a16:creationId xmlns:a16="http://schemas.microsoft.com/office/drawing/2014/main" id="{B29BDE4F-4807-99BF-A88A-1A32A2AE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8</a:t>
            </a:fld>
            <a:endParaRPr lang="tr-TR"/>
          </a:p>
        </p:txBody>
      </p:sp>
      <p:grpSp>
        <p:nvGrpSpPr>
          <p:cNvPr id="3" name="Grup 2">
            <a:extLst>
              <a:ext uri="{FF2B5EF4-FFF2-40B4-BE49-F238E27FC236}">
                <a16:creationId xmlns:a16="http://schemas.microsoft.com/office/drawing/2014/main" id="{A9F640BF-D77E-B69C-A486-418A832DB7BC}"/>
              </a:ext>
            </a:extLst>
          </p:cNvPr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>
              <a:extLst>
                <a:ext uri="{FF2B5EF4-FFF2-40B4-BE49-F238E27FC236}">
                  <a16:creationId xmlns:a16="http://schemas.microsoft.com/office/drawing/2014/main" id="{47CCC166-331F-AD4F-553B-992B148796D4}"/>
                </a:ext>
              </a:extLst>
            </p:cNvPr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>
              <a:extLst>
                <a:ext uri="{FF2B5EF4-FFF2-40B4-BE49-F238E27FC236}">
                  <a16:creationId xmlns:a16="http://schemas.microsoft.com/office/drawing/2014/main" id="{548074CD-5C9F-1AB1-6A5B-F85A7D192F74}"/>
                </a:ext>
              </a:extLst>
            </p:cNvPr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>
              <a:extLst>
                <a:ext uri="{FF2B5EF4-FFF2-40B4-BE49-F238E27FC236}">
                  <a16:creationId xmlns:a16="http://schemas.microsoft.com/office/drawing/2014/main" id="{AE890AC9-68DC-CEAB-5A4A-A614A0CB0FA0}"/>
                </a:ext>
              </a:extLst>
            </p:cNvPr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3" name="22 Metin kutusu">
            <a:extLst>
              <a:ext uri="{FF2B5EF4-FFF2-40B4-BE49-F238E27FC236}">
                <a16:creationId xmlns:a16="http://schemas.microsoft.com/office/drawing/2014/main" id="{3FA6C7AB-1006-E19E-FF64-B14168F696B1}"/>
              </a:ext>
            </a:extLst>
          </p:cNvPr>
          <p:cNvSpPr txBox="1"/>
          <p:nvPr/>
        </p:nvSpPr>
        <p:spPr>
          <a:xfrm>
            <a:off x="794792" y="335514"/>
            <a:ext cx="7936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b="1" dirty="0">
                <a:solidFill>
                  <a:srgbClr val="262626"/>
                </a:solidFill>
                <a:latin typeface="+mj-lt"/>
              </a:rPr>
              <a:t>FİRMALARININ İNTÖRN EKRANLARI VE İŞLEM YAPABİLECEKLERİ ALANLAR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F516E17F-117A-397E-69A3-8B7B6312E02A}"/>
              </a:ext>
            </a:extLst>
          </p:cNvPr>
          <p:cNvSpPr txBox="1"/>
          <p:nvPr/>
        </p:nvSpPr>
        <p:spPr>
          <a:xfrm>
            <a:off x="521804" y="1079331"/>
            <a:ext cx="4819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tr-TR" sz="2000" b="1" dirty="0">
                <a:latin typeface="CenturyGothic-Bold"/>
              </a:rPr>
              <a:t>Öğrenci Kabul Formunun Doldurtulması</a:t>
            </a:r>
            <a:endParaRPr lang="tr-TR" sz="2000" b="1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75772E0F-CA04-B601-A944-AA61DA83EF19}"/>
              </a:ext>
            </a:extLst>
          </p:cNvPr>
          <p:cNvSpPr txBox="1"/>
          <p:nvPr/>
        </p:nvSpPr>
        <p:spPr>
          <a:xfrm>
            <a:off x="4792856" y="5859753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hlinkClick r:id="rId3"/>
              </a:rPr>
              <a:t>https://ika.mcbu.edu.tr/WebFiles/Editor-22_55-YCFY221220222255.pdf</a:t>
            </a:r>
            <a:br>
              <a:rPr lang="tr-TR" dirty="0"/>
            </a:br>
            <a:endParaRPr lang="tr-TR" dirty="0"/>
          </a:p>
        </p:txBody>
      </p:sp>
      <p:pic>
        <p:nvPicPr>
          <p:cNvPr id="8" name="Resim 7" descr="metin, ekran görüntüsü, makbuz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73F0281-0975-FE72-F915-4731078AE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97" y="1584651"/>
            <a:ext cx="4034155" cy="513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684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4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9</a:t>
            </a:fld>
            <a:endParaRPr lang="tr-TR"/>
          </a:p>
        </p:txBody>
      </p:sp>
      <p:grpSp>
        <p:nvGrpSpPr>
          <p:cNvPr id="3" name="Grup 2"/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/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/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/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3" name="22 Metin kutusu"/>
          <p:cNvSpPr txBox="1"/>
          <p:nvPr/>
        </p:nvSpPr>
        <p:spPr>
          <a:xfrm>
            <a:off x="684000" y="341710"/>
            <a:ext cx="8586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>
                <a:latin typeface="Times New Roman" pitchFamily="18" charset="0"/>
                <a:cs typeface="Times New Roman" pitchFamily="18" charset="0"/>
              </a:rPr>
              <a:t>İş Yeri Uygulama Eğitimi Dersinin Süreçleri (Eğitim Esnasında)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7E473EE-3F6F-4C04-A3AA-78E6F72A1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22" y="2060848"/>
            <a:ext cx="9144000" cy="3455406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2C78E6B9-53F8-AA1D-585A-49C1029DDED5}"/>
              </a:ext>
            </a:extLst>
          </p:cNvPr>
          <p:cNvSpPr txBox="1"/>
          <p:nvPr/>
        </p:nvSpPr>
        <p:spPr>
          <a:xfrm>
            <a:off x="3059832" y="4221088"/>
            <a:ext cx="1152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Ara Rapor  </a:t>
            </a:r>
            <a:br>
              <a:rPr lang="tr-T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tr-T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Şablonu</a:t>
            </a:r>
            <a:endParaRPr lang="tr-T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FCD13308-6E23-D168-885F-DFE40D02CCD3}"/>
              </a:ext>
            </a:extLst>
          </p:cNvPr>
          <p:cNvSpPr txBox="1"/>
          <p:nvPr/>
        </p:nvSpPr>
        <p:spPr>
          <a:xfrm>
            <a:off x="7649344" y="4221088"/>
            <a:ext cx="11521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Uygulama</a:t>
            </a:r>
            <a:br>
              <a:rPr lang="tr-T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</a:br>
            <a:r>
              <a:rPr lang="tr-T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(Final) Rapor  </a:t>
            </a:r>
            <a:br>
              <a:rPr lang="tr-T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</a:br>
            <a:r>
              <a:rPr lang="tr-T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Şablonu</a:t>
            </a:r>
            <a:endParaRPr lang="tr-T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486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35C57-9DDA-8A98-7BAF-17CE6E5C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45 Slayt Numarası Yer Tutucusu">
            <a:extLst>
              <a:ext uri="{FF2B5EF4-FFF2-40B4-BE49-F238E27FC236}">
                <a16:creationId xmlns:a16="http://schemas.microsoft.com/office/drawing/2014/main" id="{C5D5B69E-D182-EEE0-0D53-AFD1F8BC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10</a:t>
            </a:fld>
            <a:endParaRPr lang="tr-TR"/>
          </a:p>
        </p:txBody>
      </p:sp>
      <p:grpSp>
        <p:nvGrpSpPr>
          <p:cNvPr id="3" name="Grup 2">
            <a:extLst>
              <a:ext uri="{FF2B5EF4-FFF2-40B4-BE49-F238E27FC236}">
                <a16:creationId xmlns:a16="http://schemas.microsoft.com/office/drawing/2014/main" id="{CC9C9D20-BBEE-DD5B-7ED0-009D1A4C3167}"/>
              </a:ext>
            </a:extLst>
          </p:cNvPr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>
              <a:extLst>
                <a:ext uri="{FF2B5EF4-FFF2-40B4-BE49-F238E27FC236}">
                  <a16:creationId xmlns:a16="http://schemas.microsoft.com/office/drawing/2014/main" id="{94F453D9-4E4D-8C94-6B53-8E83939E7C53}"/>
                </a:ext>
              </a:extLst>
            </p:cNvPr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>
              <a:extLst>
                <a:ext uri="{FF2B5EF4-FFF2-40B4-BE49-F238E27FC236}">
                  <a16:creationId xmlns:a16="http://schemas.microsoft.com/office/drawing/2014/main" id="{2B41B6AE-162B-59D2-5CA2-F4B6B73D65DC}"/>
                </a:ext>
              </a:extLst>
            </p:cNvPr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>
              <a:extLst>
                <a:ext uri="{FF2B5EF4-FFF2-40B4-BE49-F238E27FC236}">
                  <a16:creationId xmlns:a16="http://schemas.microsoft.com/office/drawing/2014/main" id="{D5DD6173-9038-43FB-EAF2-F2952E346BA8}"/>
                </a:ext>
              </a:extLst>
            </p:cNvPr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3" name="22 Metin kutusu">
            <a:extLst>
              <a:ext uri="{FF2B5EF4-FFF2-40B4-BE49-F238E27FC236}">
                <a16:creationId xmlns:a16="http://schemas.microsoft.com/office/drawing/2014/main" id="{5D0F3DD3-694C-D4AE-CDE9-03F31FD147B7}"/>
              </a:ext>
            </a:extLst>
          </p:cNvPr>
          <p:cNvSpPr txBox="1"/>
          <p:nvPr/>
        </p:nvSpPr>
        <p:spPr>
          <a:xfrm>
            <a:off x="684000" y="341710"/>
            <a:ext cx="8586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>
                <a:latin typeface="Times New Roman" pitchFamily="18" charset="0"/>
                <a:cs typeface="Times New Roman" pitchFamily="18" charset="0"/>
              </a:rPr>
              <a:t>İş Yeri Uygulama Eğitimi Dersinin Süreçleri (Eğitim Esnasında)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8A6B56AA-03A6-B088-44DC-C047E41BE81E}"/>
              </a:ext>
            </a:extLst>
          </p:cNvPr>
          <p:cNvSpPr txBox="1"/>
          <p:nvPr/>
        </p:nvSpPr>
        <p:spPr>
          <a:xfrm>
            <a:off x="295938" y="1028343"/>
            <a:ext cx="8390861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1" dirty="0"/>
              <a:t>Puantaj (Devamsızlık/yoklama) İşlemi aşaması:</a:t>
            </a:r>
          </a:p>
          <a:p>
            <a:pPr algn="just"/>
            <a:endParaRPr lang="tr-TR" sz="2000" b="1" dirty="0"/>
          </a:p>
          <a:p>
            <a:pPr algn="just"/>
            <a:endParaRPr lang="tr-TR" sz="2000" b="1" dirty="0"/>
          </a:p>
          <a:p>
            <a:pPr algn="just"/>
            <a:r>
              <a:rPr lang="tr-TR" b="1" dirty="0"/>
              <a:t>Her ayın 1'i ile 7'si içerisinde </a:t>
            </a:r>
            <a:r>
              <a:rPr lang="tr-TR" dirty="0"/>
              <a:t>bir önceki ayın puantaj işlemlerinin yapılması zorunludur. </a:t>
            </a:r>
          </a:p>
          <a:p>
            <a:pPr algn="just"/>
            <a:r>
              <a:rPr lang="tr-TR" dirty="0"/>
              <a:t>***Örnek: Mart ayının puantajı 1-7 Mart tarihleri arasında İ</a:t>
            </a:r>
            <a:r>
              <a:rPr lang="tr-TR" b="1" dirty="0"/>
              <a:t>zleyici Öğretim Elemanına</a:t>
            </a:r>
            <a:r>
              <a:rPr lang="tr-TR" dirty="0"/>
              <a:t> elektronik ortamda ulaştırılır. </a:t>
            </a:r>
          </a:p>
          <a:p>
            <a:pPr algn="just"/>
            <a:endParaRPr lang="tr-TR" dirty="0"/>
          </a:p>
          <a:p>
            <a:pPr algn="just"/>
            <a:endParaRPr lang="tr-TR" dirty="0"/>
          </a:p>
          <a:p>
            <a:pPr algn="just"/>
            <a:endParaRPr lang="tr-TR" dirty="0"/>
          </a:p>
          <a:p>
            <a:pPr algn="just"/>
            <a:endParaRPr lang="tr-TR" dirty="0"/>
          </a:p>
          <a:p>
            <a:pPr algn="just"/>
            <a:endParaRPr lang="tr-TR" dirty="0"/>
          </a:p>
          <a:p>
            <a:pPr algn="just"/>
            <a:endParaRPr lang="tr-TR" dirty="0"/>
          </a:p>
          <a:p>
            <a:pPr algn="just"/>
            <a:r>
              <a:rPr lang="tr-TR" dirty="0"/>
              <a:t>İş Yerleri, İşletmede Mesleki Eğitim sırasında</a:t>
            </a:r>
            <a:r>
              <a:rPr lang="tr-TR" b="1" u="sng" dirty="0">
                <a:solidFill>
                  <a:srgbClr val="FF0000"/>
                </a:solidFill>
              </a:rPr>
              <a:t> meslek hastalığı veya iş yeri kazasına uğrayan öğrenciler </a:t>
            </a:r>
            <a:r>
              <a:rPr lang="tr-TR" dirty="0"/>
              <a:t>ile ilgili, SGK hükümlerine göre işlem yapmak ve okulumuz  “İŞTAK/STAJ" </a:t>
            </a:r>
          </a:p>
          <a:p>
            <a:pPr algn="just"/>
            <a:r>
              <a:rPr lang="tr-TR" dirty="0"/>
              <a:t>Birimine ve öğrenciden sorumlu</a:t>
            </a:r>
            <a:r>
              <a:rPr lang="tr-TR" sz="2000" b="1" dirty="0">
                <a:solidFill>
                  <a:srgbClr val="FF0000"/>
                </a:solidFill>
              </a:rPr>
              <a:t> </a:t>
            </a:r>
            <a:r>
              <a:rPr lang="tr-TR" b="1" u="sng" dirty="0">
                <a:solidFill>
                  <a:srgbClr val="FF0000"/>
                </a:solidFill>
              </a:rPr>
              <a:t>İzleyici Öğretim Elemanına en geç 2 gün içerisinde bilgi vermek durumundadır</a:t>
            </a:r>
            <a:endParaRPr lang="tr-TR" sz="20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961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4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11</a:t>
            </a:fld>
            <a:endParaRPr lang="tr-TR"/>
          </a:p>
        </p:txBody>
      </p:sp>
      <p:grpSp>
        <p:nvGrpSpPr>
          <p:cNvPr id="3" name="Grup 2"/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/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/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/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3" name="22 Metin kutusu"/>
          <p:cNvSpPr txBox="1"/>
          <p:nvPr/>
        </p:nvSpPr>
        <p:spPr>
          <a:xfrm>
            <a:off x="1151689" y="375047"/>
            <a:ext cx="6267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>
                <a:latin typeface="Times New Roman" pitchFamily="18" charset="0"/>
                <a:cs typeface="Times New Roman" pitchFamily="18" charset="0"/>
              </a:rPr>
              <a:t>İş Yeri Uygulama Eğitiminde Sağlık Raporları</a:t>
            </a:r>
          </a:p>
        </p:txBody>
      </p:sp>
      <p:pic>
        <p:nvPicPr>
          <p:cNvPr id="6146" name="Picture 2" descr="sağlık raporu ile ilgili görsel sonucu">
            <a:extLst>
              <a:ext uri="{FF2B5EF4-FFF2-40B4-BE49-F238E27FC236}">
                <a16:creationId xmlns:a16="http://schemas.microsoft.com/office/drawing/2014/main" id="{DF3656E5-AB54-4B02-B846-3B674C60E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419400"/>
            <a:ext cx="4009628" cy="224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Kaydırma: Dikey 1">
            <a:extLst>
              <a:ext uri="{FF2B5EF4-FFF2-40B4-BE49-F238E27FC236}">
                <a16:creationId xmlns:a16="http://schemas.microsoft.com/office/drawing/2014/main" id="{D47A1A46-0CC7-47E9-98DC-CDBD905CB848}"/>
              </a:ext>
            </a:extLst>
          </p:cNvPr>
          <p:cNvSpPr/>
          <p:nvPr/>
        </p:nvSpPr>
        <p:spPr>
          <a:xfrm>
            <a:off x="114845" y="1080016"/>
            <a:ext cx="8352928" cy="3267086"/>
          </a:xfrm>
          <a:prstGeom prst="verticalScroll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tr-TR" sz="1800" b="0" i="0" u="none" strike="noStrike" baseline="0" dirty="0">
                <a:solidFill>
                  <a:srgbClr val="FFC100"/>
                </a:solidFill>
                <a:latin typeface="Wingdings-Regular"/>
              </a:rPr>
              <a:t>ü </a:t>
            </a:r>
            <a:r>
              <a:rPr lang="tr-TR" sz="1800" b="0" i="0" u="none" strike="noStrike" baseline="0" dirty="0">
                <a:solidFill>
                  <a:srgbClr val="2B2E31"/>
                </a:solidFill>
                <a:latin typeface="CenturyGothic"/>
              </a:rPr>
              <a:t>Raporlar </a:t>
            </a:r>
            <a:r>
              <a:rPr lang="tr-TR" sz="1800" b="1" i="0" u="none" strike="noStrike" baseline="0" dirty="0">
                <a:solidFill>
                  <a:srgbClr val="2B2E31"/>
                </a:solidFill>
                <a:latin typeface="CenturyGothic-Bold"/>
              </a:rPr>
              <a:t>devamsızlıktan </a:t>
            </a:r>
            <a:r>
              <a:rPr lang="tr-TR" sz="1800" b="0" i="0" u="none" strike="noStrike" baseline="0" dirty="0">
                <a:solidFill>
                  <a:srgbClr val="2B2E31"/>
                </a:solidFill>
                <a:latin typeface="CenturyGothic"/>
              </a:rPr>
              <a:t>sayılır.</a:t>
            </a:r>
          </a:p>
          <a:p>
            <a:pPr algn="l"/>
            <a:endParaRPr lang="tr-TR" sz="1800" b="0" i="0" u="none" strike="noStrike" baseline="0" dirty="0">
              <a:solidFill>
                <a:srgbClr val="2B2E31"/>
              </a:solidFill>
              <a:latin typeface="CenturyGothic"/>
            </a:endParaRPr>
          </a:p>
          <a:p>
            <a:pPr algn="l"/>
            <a:endParaRPr lang="tr-TR" sz="1800" b="0" i="0" u="none" strike="noStrike" baseline="0" dirty="0">
              <a:solidFill>
                <a:srgbClr val="2B2E31"/>
              </a:solidFill>
              <a:latin typeface="CenturyGothic"/>
            </a:endParaRPr>
          </a:p>
          <a:p>
            <a:pPr algn="l"/>
            <a:r>
              <a:rPr lang="tr-TR" sz="1800" b="0" i="0" u="none" strike="noStrike" baseline="0" dirty="0">
                <a:solidFill>
                  <a:srgbClr val="FFC100"/>
                </a:solidFill>
                <a:latin typeface="Wingdings-Regular"/>
              </a:rPr>
              <a:t>ü </a:t>
            </a:r>
            <a:r>
              <a:rPr lang="tr-TR" sz="1800" b="1" i="0" u="none" strike="noStrike" baseline="0" dirty="0">
                <a:solidFill>
                  <a:srgbClr val="2B2E31"/>
                </a:solidFill>
                <a:latin typeface="CenturyGothic-Bold"/>
              </a:rPr>
              <a:t>İş Yeri Eğitim Sorumlusu ve İzleyici Öğretim </a:t>
            </a:r>
            <a:r>
              <a:rPr lang="tr-TR" sz="1800" b="1" i="0" u="none" strike="noStrike" baseline="0" dirty="0" err="1">
                <a:solidFill>
                  <a:srgbClr val="2B2E31"/>
                </a:solidFill>
                <a:latin typeface="CenturyGothic-Bold"/>
              </a:rPr>
              <a:t>Elemanı’nının</a:t>
            </a:r>
            <a:r>
              <a:rPr lang="tr-TR" sz="1800" b="1" i="0" u="none" strike="noStrike" baseline="0" dirty="0">
                <a:solidFill>
                  <a:srgbClr val="2B2E31"/>
                </a:solidFill>
                <a:latin typeface="CenturyGothic-Bold"/>
              </a:rPr>
              <a:t> aynı gün </a:t>
            </a:r>
            <a:r>
              <a:rPr lang="tr-TR" sz="1800" b="0" i="0" u="none" strike="noStrike" baseline="0" dirty="0">
                <a:solidFill>
                  <a:srgbClr val="2B2E31"/>
                </a:solidFill>
                <a:latin typeface="CenturyGothic"/>
              </a:rPr>
              <a:t>içerisinde bilgilendirilmesi gerekmektedir.</a:t>
            </a:r>
          </a:p>
          <a:p>
            <a:pPr algn="l"/>
            <a:endParaRPr lang="tr-TR" sz="1800" b="0" i="0" u="none" strike="noStrike" baseline="0" dirty="0">
              <a:solidFill>
                <a:srgbClr val="2B2E31"/>
              </a:solidFill>
              <a:latin typeface="CenturyGothic"/>
            </a:endParaRPr>
          </a:p>
          <a:p>
            <a:pPr algn="l"/>
            <a:endParaRPr lang="tr-TR" sz="1800" b="0" i="0" u="none" strike="noStrike" baseline="0" dirty="0">
              <a:solidFill>
                <a:srgbClr val="2B2E31"/>
              </a:solidFill>
              <a:latin typeface="CenturyGothic"/>
            </a:endParaRPr>
          </a:p>
          <a:p>
            <a:pPr algn="l"/>
            <a:r>
              <a:rPr lang="tr-TR" sz="1800" b="0" i="0" u="none" strike="noStrike" baseline="0" dirty="0">
                <a:solidFill>
                  <a:srgbClr val="FFC100"/>
                </a:solidFill>
                <a:latin typeface="Wingdings-Regular"/>
              </a:rPr>
              <a:t>ü </a:t>
            </a:r>
            <a:r>
              <a:rPr lang="tr-TR" sz="1800" b="0" i="0" u="none" strike="noStrike" baseline="0" dirty="0">
                <a:solidFill>
                  <a:srgbClr val="2B2E31"/>
                </a:solidFill>
                <a:latin typeface="CenturyGothic"/>
              </a:rPr>
              <a:t>Raporun </a:t>
            </a:r>
            <a:r>
              <a:rPr lang="tr-TR" sz="1800" b="1" i="0" u="none" strike="noStrike" baseline="0" dirty="0" err="1">
                <a:solidFill>
                  <a:srgbClr val="2B2E31"/>
                </a:solidFill>
                <a:latin typeface="CenturyGothic-Bold"/>
              </a:rPr>
              <a:t>aslınının</a:t>
            </a:r>
            <a:r>
              <a:rPr lang="tr-TR" sz="1800" b="1" i="0" u="none" strike="noStrike" baseline="0" dirty="0">
                <a:solidFill>
                  <a:srgbClr val="2B2E31"/>
                </a:solidFill>
                <a:latin typeface="CenturyGothic-Bold"/>
              </a:rPr>
              <a:t> en geç 1 hafta içerisinde İzleyici Öğretim </a:t>
            </a:r>
            <a:r>
              <a:rPr lang="tr-TR" sz="1800" b="1" i="0" u="none" strike="noStrike" baseline="0" dirty="0" err="1">
                <a:solidFill>
                  <a:srgbClr val="2B2E31"/>
                </a:solidFill>
                <a:latin typeface="CenturyGothic-Bold"/>
              </a:rPr>
              <a:t>Elemanı’na</a:t>
            </a:r>
            <a:r>
              <a:rPr lang="tr-TR" sz="1800" b="1" i="0" u="none" strike="noStrike" baseline="0" dirty="0">
                <a:solidFill>
                  <a:srgbClr val="2B2E31"/>
                </a:solidFill>
                <a:latin typeface="CenturyGothic-Bold"/>
              </a:rPr>
              <a:t> </a:t>
            </a:r>
            <a:r>
              <a:rPr lang="tr-TR" sz="1800" b="0" i="0" u="none" strike="noStrike" baseline="0" dirty="0">
                <a:solidFill>
                  <a:srgbClr val="2B2E31"/>
                </a:solidFill>
                <a:latin typeface="CenturyGothic"/>
              </a:rPr>
              <a:t>ulaşması sağlanır.</a:t>
            </a:r>
            <a:endParaRPr lang="tr-TR" sz="1800" dirty="0"/>
          </a:p>
          <a:p>
            <a:pPr algn="ctr"/>
            <a:endParaRPr lang="tr-TR" dirty="0"/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C1FBCA94-6C84-126E-9F47-5B2D45FB4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949009"/>
              </p:ext>
            </p:extLst>
          </p:nvPr>
        </p:nvGraphicFramePr>
        <p:xfrm>
          <a:off x="-22682" y="4016151"/>
          <a:ext cx="4755608" cy="2853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804">
                  <a:extLst>
                    <a:ext uri="{9D8B030D-6E8A-4147-A177-3AD203B41FA5}">
                      <a16:colId xmlns:a16="http://schemas.microsoft.com/office/drawing/2014/main" val="1737515995"/>
                    </a:ext>
                  </a:extLst>
                </a:gridCol>
                <a:gridCol w="2377804">
                  <a:extLst>
                    <a:ext uri="{9D8B030D-6E8A-4147-A177-3AD203B41FA5}">
                      <a16:colId xmlns:a16="http://schemas.microsoft.com/office/drawing/2014/main" val="3678673395"/>
                    </a:ext>
                  </a:extLst>
                </a:gridCol>
              </a:tblGrid>
              <a:tr h="546726">
                <a:tc gridSpan="2">
                  <a:txBody>
                    <a:bodyPr/>
                    <a:lstStyle/>
                    <a:p>
                      <a:pPr algn="ctr"/>
                      <a:r>
                        <a:rPr lang="tr-TR" sz="1200" dirty="0">
                          <a:solidFill>
                            <a:srgbClr val="FF0000"/>
                          </a:solidFill>
                        </a:rPr>
                        <a:t>TURGUTLU MYO. </a:t>
                      </a:r>
                      <a:br>
                        <a:rPr lang="tr-TR" sz="1200" dirty="0">
                          <a:solidFill>
                            <a:srgbClr val="FF0000"/>
                          </a:solidFill>
                        </a:rPr>
                      </a:br>
                      <a:r>
                        <a:rPr lang="tr-TR" sz="1200" dirty="0">
                          <a:solidFill>
                            <a:srgbClr val="FF0000"/>
                          </a:solidFill>
                        </a:rPr>
                        <a:t>İŞLETMEDE MESLEKİ EĞİTİM TAKİP KOMİSYONU PERSONELİ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170903"/>
                  </a:ext>
                </a:extLst>
              </a:tr>
              <a:tr h="257193">
                <a:tc>
                  <a:txBody>
                    <a:bodyPr/>
                    <a:lstStyle/>
                    <a:p>
                      <a:r>
                        <a:rPr lang="it-IT" sz="1200" b="1" dirty="0"/>
                        <a:t>Adı Soyadı</a:t>
                      </a:r>
                      <a:endParaRPr lang="tr-T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Murat DAŞDELEN </a:t>
                      </a:r>
                      <a:endParaRPr lang="tr-T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988505"/>
                  </a:ext>
                </a:extLst>
              </a:tr>
              <a:tr h="390519">
                <a:tc>
                  <a:txBody>
                    <a:bodyPr/>
                    <a:lstStyle/>
                    <a:p>
                      <a:r>
                        <a:rPr lang="it-IT" sz="1200" b="1" dirty="0"/>
                        <a:t>E-posta</a:t>
                      </a:r>
                      <a:endParaRPr lang="tr-T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turgutlumyo.istak@cbu.edu.tr</a:t>
                      </a:r>
                      <a:endParaRPr lang="tr-T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721867"/>
                  </a:ext>
                </a:extLst>
              </a:tr>
              <a:tr h="5132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it-IT" sz="1200" b="1" dirty="0"/>
                        <a:t>Telefon</a:t>
                      </a:r>
                      <a:endParaRPr lang="tr-T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dirty="0"/>
                        <a:t>0236 314 63 63</a:t>
                      </a:r>
                    </a:p>
                    <a:p>
                      <a:r>
                        <a:rPr lang="it-IT" sz="1200" dirty="0"/>
                        <a:t>0236 313 55 02 / 107 </a:t>
                      </a:r>
                      <a:endParaRPr lang="tr-T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034152"/>
                  </a:ext>
                </a:extLst>
              </a:tr>
              <a:tr h="1129083"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</a:pPr>
                      <a:r>
                        <a:rPr lang="tr-TR" sz="1200" b="1" kern="1200" dirty="0">
                          <a:solidFill>
                            <a:schemeClr val="dk1"/>
                          </a:solidFill>
                        </a:rPr>
                        <a:t>Adres</a:t>
                      </a:r>
                      <a:endParaRPr lang="tr-T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200" dirty="0"/>
                        <a:t>Manisa Celal Bayar </a:t>
                      </a:r>
                      <a:r>
                        <a:rPr lang="tr-TR" sz="1200" dirty="0" err="1"/>
                        <a:t>Ünv</a:t>
                      </a:r>
                      <a:r>
                        <a:rPr lang="tr-TR" sz="1200" dirty="0"/>
                        <a:t>. Turgutlu Meslek Yüksekokulu Albayrak Mah. </a:t>
                      </a:r>
                      <a:r>
                        <a:rPr lang="tr-TR" sz="1200" dirty="0" err="1"/>
                        <a:t>Hatboyu</a:t>
                      </a:r>
                      <a:r>
                        <a:rPr lang="tr-TR" sz="1200" dirty="0"/>
                        <a:t> Sokak. No:2645400 Turgutlu MANİSA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783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84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4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12</a:t>
            </a:fld>
            <a:endParaRPr lang="tr-TR"/>
          </a:p>
        </p:txBody>
      </p:sp>
      <p:grpSp>
        <p:nvGrpSpPr>
          <p:cNvPr id="3" name="Grup 2"/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/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/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/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3" name="22 Metin kutusu"/>
          <p:cNvSpPr txBox="1"/>
          <p:nvPr/>
        </p:nvSpPr>
        <p:spPr>
          <a:xfrm>
            <a:off x="1151689" y="375047"/>
            <a:ext cx="6634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>
                <a:latin typeface="Times New Roman" pitchFamily="18" charset="0"/>
                <a:cs typeface="Times New Roman" pitchFamily="18" charset="0"/>
              </a:rPr>
              <a:t>İş Yeri Uygulama Eğitiminde Devamsızlık ve İzin</a:t>
            </a:r>
          </a:p>
        </p:txBody>
      </p:sp>
      <p:pic>
        <p:nvPicPr>
          <p:cNvPr id="5122" name="Picture 2" descr="devamsızlık ile ilgili görsel sonucu">
            <a:extLst>
              <a:ext uri="{FF2B5EF4-FFF2-40B4-BE49-F238E27FC236}">
                <a16:creationId xmlns:a16="http://schemas.microsoft.com/office/drawing/2014/main" id="{1A803BF3-BA6C-4E83-9029-43CBC8CAE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160" y="3471556"/>
            <a:ext cx="2771800" cy="284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BB9B8E28-0481-4C09-A547-EA0465C24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68" y="1340768"/>
            <a:ext cx="2555776" cy="2327796"/>
          </a:xfrm>
          <a:prstGeom prst="rect">
            <a:avLst/>
          </a:prstGeom>
        </p:spPr>
      </p:pic>
      <p:sp>
        <p:nvSpPr>
          <p:cNvPr id="14" name="Metin kutusu 13">
            <a:extLst>
              <a:ext uri="{FF2B5EF4-FFF2-40B4-BE49-F238E27FC236}">
                <a16:creationId xmlns:a16="http://schemas.microsoft.com/office/drawing/2014/main" id="{94C4B86C-18C4-494D-96F3-F417E411B2E7}"/>
              </a:ext>
            </a:extLst>
          </p:cNvPr>
          <p:cNvSpPr txBox="1"/>
          <p:nvPr/>
        </p:nvSpPr>
        <p:spPr>
          <a:xfrm>
            <a:off x="3267186" y="1349872"/>
            <a:ext cx="5335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2000" b="0" i="0" u="none" strike="noStrike" baseline="0" dirty="0">
                <a:solidFill>
                  <a:srgbClr val="FFC100"/>
                </a:solidFill>
                <a:latin typeface="Wingdings-Regular"/>
              </a:rPr>
              <a:t>ü </a:t>
            </a:r>
            <a:r>
              <a:rPr lang="tr-TR" sz="2000" b="1" i="0" u="none" strike="noStrike" baseline="0" dirty="0">
                <a:solidFill>
                  <a:srgbClr val="2B2E31"/>
                </a:solidFill>
                <a:latin typeface="CenturyGothic-Bold"/>
              </a:rPr>
              <a:t>% 90 devam zorunluluğu </a:t>
            </a:r>
            <a:r>
              <a:rPr lang="tr-TR" sz="2000" b="0" i="0" u="none" strike="noStrike" baseline="0" dirty="0">
                <a:solidFill>
                  <a:srgbClr val="2B2E31"/>
                </a:solidFill>
                <a:latin typeface="CenturyGothic"/>
              </a:rPr>
              <a:t>bulunmaktadır.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E98F294-B8D8-45BD-ACCF-97D7B5143E9A}"/>
              </a:ext>
            </a:extLst>
          </p:cNvPr>
          <p:cNvSpPr txBox="1"/>
          <p:nvPr/>
        </p:nvSpPr>
        <p:spPr>
          <a:xfrm>
            <a:off x="3207705" y="1903843"/>
            <a:ext cx="59362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2000" b="0" i="0" u="none" strike="noStrike" baseline="0" dirty="0">
                <a:solidFill>
                  <a:srgbClr val="FFC100"/>
                </a:solidFill>
                <a:latin typeface="Wingdings-Regular"/>
              </a:rPr>
              <a:t>ü </a:t>
            </a:r>
            <a:r>
              <a:rPr lang="tr-TR" sz="2000" b="0" i="0" u="none" strike="noStrike" baseline="0" dirty="0">
                <a:solidFill>
                  <a:srgbClr val="2B2E31"/>
                </a:solidFill>
                <a:latin typeface="CenturyGothic"/>
              </a:rPr>
              <a:t>Mazeretsiz </a:t>
            </a:r>
            <a:r>
              <a:rPr lang="tr-TR" sz="2000" b="1" i="0" u="none" strike="noStrike" baseline="0" dirty="0">
                <a:solidFill>
                  <a:srgbClr val="2B2E31"/>
                </a:solidFill>
                <a:latin typeface="CenturyGothic-Bold"/>
              </a:rPr>
              <a:t>3 gün üst üste devamsızlık </a:t>
            </a:r>
            <a:r>
              <a:rPr lang="tr-TR" sz="2000" b="0" i="0" u="none" strike="noStrike" baseline="0" dirty="0">
                <a:solidFill>
                  <a:srgbClr val="2B2E31"/>
                </a:solidFill>
                <a:latin typeface="CenturyGothic"/>
              </a:rPr>
              <a:t>başarısızlık nedenidir.</a:t>
            </a:r>
            <a:endParaRPr lang="tr-TR" sz="2000" dirty="0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6D73DA63-E913-4669-A230-6BCD757E2287}"/>
              </a:ext>
            </a:extLst>
          </p:cNvPr>
          <p:cNvSpPr txBox="1"/>
          <p:nvPr/>
        </p:nvSpPr>
        <p:spPr>
          <a:xfrm>
            <a:off x="470602" y="3885829"/>
            <a:ext cx="56135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1800" b="0" i="0" u="none" strike="noStrike" baseline="0" dirty="0">
                <a:solidFill>
                  <a:srgbClr val="FFC100"/>
                </a:solidFill>
                <a:latin typeface="Wingdings-Regular"/>
              </a:rPr>
              <a:t>ü 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enturyGothic"/>
              </a:rPr>
              <a:t>İş yerinden 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CenturyGothic-Bold"/>
              </a:rPr>
              <a:t>İşyeri Eğitim </a:t>
            </a:r>
            <a:r>
              <a:rPr lang="tr-TR" sz="1800" b="1" i="0" u="none" strike="noStrike" baseline="0" dirty="0" err="1">
                <a:solidFill>
                  <a:srgbClr val="000000"/>
                </a:solidFill>
                <a:latin typeface="CenturyGothic-Bold"/>
              </a:rPr>
              <a:t>Sorumlusu’nun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CenturyGothic-Bold"/>
              </a:rPr>
              <a:t> 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enturyGothic"/>
              </a:rPr>
              <a:t>izni ve onayı olmaksızın ayrılamazlar.</a:t>
            </a:r>
          </a:p>
          <a:p>
            <a:pPr algn="just"/>
            <a:endParaRPr lang="tr-TR" sz="1800" b="0" i="0" u="none" strike="noStrike" baseline="0" dirty="0">
              <a:solidFill>
                <a:srgbClr val="000000"/>
              </a:solidFill>
              <a:latin typeface="CenturyGothic"/>
            </a:endParaRPr>
          </a:p>
          <a:p>
            <a:pPr algn="just"/>
            <a:r>
              <a:rPr lang="tr-TR" sz="1800" b="0" i="0" u="none" strike="noStrike" baseline="0" dirty="0">
                <a:solidFill>
                  <a:srgbClr val="FFC100"/>
                </a:solidFill>
                <a:latin typeface="Wingdings-Regular"/>
              </a:rPr>
              <a:t>ü 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enturyGothic"/>
              </a:rPr>
              <a:t>Mazeret izni iş Yeri Uygulama Eğitimi süresinin </a:t>
            </a:r>
          </a:p>
          <a:p>
            <a:pPr algn="just"/>
            <a:r>
              <a:rPr lang="tr-TR" sz="1800" b="1" i="0" u="none" strike="noStrike" baseline="0" dirty="0">
                <a:solidFill>
                  <a:srgbClr val="000000"/>
                </a:solidFill>
                <a:latin typeface="CenturyGothic-Bold"/>
              </a:rPr>
              <a:t>% 10’nunu 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enturyGothic"/>
              </a:rPr>
              <a:t>geçemez.</a:t>
            </a:r>
          </a:p>
          <a:p>
            <a:pPr algn="just"/>
            <a:endParaRPr lang="tr-TR" sz="1800" b="0" i="0" u="none" strike="noStrike" baseline="0" dirty="0">
              <a:solidFill>
                <a:srgbClr val="000000"/>
              </a:solidFill>
              <a:latin typeface="CenturyGothic"/>
            </a:endParaRPr>
          </a:p>
          <a:p>
            <a:pPr algn="just"/>
            <a:r>
              <a:rPr lang="tr-TR" sz="1800" b="0" i="0" u="none" strike="noStrike" baseline="0" dirty="0">
                <a:solidFill>
                  <a:srgbClr val="FFC100"/>
                </a:solidFill>
                <a:latin typeface="Wingdings-Regular"/>
              </a:rPr>
              <a:t>ü 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enturyGothic"/>
              </a:rPr>
              <a:t>İzinler de 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CenturyGothic-Bold"/>
              </a:rPr>
              <a:t>devamsızlık 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enturyGothic"/>
              </a:rPr>
              <a:t>olarak sayılır.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9227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6D1C1-6EBA-BF33-8D07-A0029CF2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45 Slayt Numarası Yer Tutucusu">
            <a:extLst>
              <a:ext uri="{FF2B5EF4-FFF2-40B4-BE49-F238E27FC236}">
                <a16:creationId xmlns:a16="http://schemas.microsoft.com/office/drawing/2014/main" id="{01C3FD84-9CA9-2145-B210-188FAB1C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13</a:t>
            </a:fld>
            <a:endParaRPr lang="tr-TR"/>
          </a:p>
        </p:txBody>
      </p:sp>
      <p:grpSp>
        <p:nvGrpSpPr>
          <p:cNvPr id="3" name="Grup 2">
            <a:extLst>
              <a:ext uri="{FF2B5EF4-FFF2-40B4-BE49-F238E27FC236}">
                <a16:creationId xmlns:a16="http://schemas.microsoft.com/office/drawing/2014/main" id="{89279BF1-0DC6-767C-F53C-29159FD95EE1}"/>
              </a:ext>
            </a:extLst>
          </p:cNvPr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>
              <a:extLst>
                <a:ext uri="{FF2B5EF4-FFF2-40B4-BE49-F238E27FC236}">
                  <a16:creationId xmlns:a16="http://schemas.microsoft.com/office/drawing/2014/main" id="{D3776FF6-C173-8505-9A5C-79425BE89722}"/>
                </a:ext>
              </a:extLst>
            </p:cNvPr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>
              <a:extLst>
                <a:ext uri="{FF2B5EF4-FFF2-40B4-BE49-F238E27FC236}">
                  <a16:creationId xmlns:a16="http://schemas.microsoft.com/office/drawing/2014/main" id="{5CBC2896-DE12-7ED0-E8BE-CE0FF6D5362D}"/>
                </a:ext>
              </a:extLst>
            </p:cNvPr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>
              <a:extLst>
                <a:ext uri="{FF2B5EF4-FFF2-40B4-BE49-F238E27FC236}">
                  <a16:creationId xmlns:a16="http://schemas.microsoft.com/office/drawing/2014/main" id="{2FBFA9E9-0314-7987-DA61-532E0BE95EA4}"/>
                </a:ext>
              </a:extLst>
            </p:cNvPr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3" name="22 Metin kutusu">
            <a:extLst>
              <a:ext uri="{FF2B5EF4-FFF2-40B4-BE49-F238E27FC236}">
                <a16:creationId xmlns:a16="http://schemas.microsoft.com/office/drawing/2014/main" id="{AA435FD6-EC86-BFD5-4528-1091A4FFF9C4}"/>
              </a:ext>
            </a:extLst>
          </p:cNvPr>
          <p:cNvSpPr txBox="1"/>
          <p:nvPr/>
        </p:nvSpPr>
        <p:spPr>
          <a:xfrm>
            <a:off x="684000" y="341710"/>
            <a:ext cx="8586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>
                <a:latin typeface="Times New Roman" pitchFamily="18" charset="0"/>
                <a:cs typeface="Times New Roman" pitchFamily="18" charset="0"/>
              </a:rPr>
              <a:t>İş Yeri Uygulama Eğitimi Dersinin Süreçleri (Eğitim Esnasında)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5AF5EB5-3287-41C4-2B98-0A377B782D25}"/>
              </a:ext>
            </a:extLst>
          </p:cNvPr>
          <p:cNvSpPr txBox="1"/>
          <p:nvPr/>
        </p:nvSpPr>
        <p:spPr>
          <a:xfrm>
            <a:off x="272580" y="1252504"/>
            <a:ext cx="858619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1" dirty="0"/>
              <a:t>Ara Rapor Teslim Etme Aşaması:</a:t>
            </a:r>
          </a:p>
          <a:p>
            <a:pPr algn="just"/>
            <a:endParaRPr lang="tr-TR" dirty="0">
              <a:solidFill>
                <a:srgbClr val="FF0000"/>
              </a:solidFill>
            </a:endParaRPr>
          </a:p>
          <a:p>
            <a:pPr algn="just"/>
            <a:r>
              <a:rPr lang="tr-TR" dirty="0"/>
              <a:t> İlk 9 haftada yapılan çalışmaların okulumuz web sayfasındaki "İşletmede Mesleki Eğitim"</a:t>
            </a:r>
          </a:p>
          <a:p>
            <a:pPr algn="just"/>
            <a:r>
              <a:rPr lang="tr-TR" dirty="0"/>
              <a:t>sekmesi içindeki "Ara Rapor" formatında hazırlanarak  13-17 Nisan 2006 tarihleri içerisinde "İŞTAK/STAJ" Birimine teslim edilmesi / ulaştırılması. </a:t>
            </a:r>
          </a:p>
          <a:p>
            <a:pPr algn="just"/>
            <a:endParaRPr lang="tr-TR" dirty="0"/>
          </a:p>
          <a:p>
            <a:pPr algn="just"/>
            <a:r>
              <a:rPr lang="tr-TR" dirty="0"/>
              <a:t>***Ara rapor şablonu kullanılarak hazırlanacaktır. </a:t>
            </a:r>
          </a:p>
          <a:p>
            <a:pPr algn="just"/>
            <a:r>
              <a:rPr lang="tr-TR" dirty="0">
                <a:hlinkClick r:id="rId3"/>
              </a:rPr>
              <a:t>https://turgutlumyo.mcbu.edu.tr/db_images/file/Ara%20(Vize)%20Raporu%20Format%C4%B1.docx</a:t>
            </a:r>
            <a:endParaRPr lang="tr-TR" dirty="0"/>
          </a:p>
          <a:p>
            <a:pPr algn="just"/>
            <a:endParaRPr lang="tr-TR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88AF409F-AE1B-7841-461C-2485AB6201EB}"/>
              </a:ext>
            </a:extLst>
          </p:cNvPr>
          <p:cNvSpPr txBox="1"/>
          <p:nvPr/>
        </p:nvSpPr>
        <p:spPr>
          <a:xfrm>
            <a:off x="261864" y="4219925"/>
            <a:ext cx="842493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1" dirty="0"/>
              <a:t>Uygulama Raporu Teslim Etme Aşaması:</a:t>
            </a:r>
          </a:p>
          <a:p>
            <a:pPr algn="just"/>
            <a:r>
              <a:rPr lang="tr-TR" sz="2000" b="1" dirty="0"/>
              <a:t> </a:t>
            </a:r>
            <a:r>
              <a:rPr lang="tr-TR" dirty="0"/>
              <a:t>Eğitimin sona ermesinden itibaren en geç 1 hafta içerisinde okulumuz web sayfasındaki "İşletmede Mesleki Eğitim" sekmesi içindeki "Uygulama Raporu" formatında hazırlanarak "İŞTAK/STAJ" Birimine teslim edilmesi / ulaştırılması. </a:t>
            </a:r>
          </a:p>
          <a:p>
            <a:pPr algn="just"/>
            <a:endParaRPr lang="tr-TR" dirty="0"/>
          </a:p>
          <a:p>
            <a:pPr algn="just"/>
            <a:r>
              <a:rPr lang="tr-TR" dirty="0"/>
              <a:t>***Uygulama  rapor şablonu kullanılarak hazırlanacaktır. </a:t>
            </a:r>
          </a:p>
          <a:p>
            <a:pPr algn="just"/>
            <a:r>
              <a:rPr lang="tr-TR" sz="1400" dirty="0">
                <a:hlinkClick r:id="rId4"/>
              </a:rPr>
              <a:t>https://turgutlumyo.mcbu.edu.tr/db_images/file/Uygulama%20(Final)%20Raporu%20Format%C4%B1.docx</a:t>
            </a:r>
            <a:endParaRPr lang="tr-TR" sz="1400" dirty="0"/>
          </a:p>
          <a:p>
            <a:pPr algn="just"/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80303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978C8-97DC-3D90-7660-4929DAA2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45 Slayt Numarası Yer Tutucusu">
            <a:extLst>
              <a:ext uri="{FF2B5EF4-FFF2-40B4-BE49-F238E27FC236}">
                <a16:creationId xmlns:a16="http://schemas.microsoft.com/office/drawing/2014/main" id="{EFEC93BA-14F7-1711-9EDD-BB0D803F2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14</a:t>
            </a:fld>
            <a:endParaRPr lang="tr-TR"/>
          </a:p>
        </p:txBody>
      </p:sp>
      <p:grpSp>
        <p:nvGrpSpPr>
          <p:cNvPr id="3" name="Grup 2">
            <a:extLst>
              <a:ext uri="{FF2B5EF4-FFF2-40B4-BE49-F238E27FC236}">
                <a16:creationId xmlns:a16="http://schemas.microsoft.com/office/drawing/2014/main" id="{049D1D43-6B17-E670-E908-443240255327}"/>
              </a:ext>
            </a:extLst>
          </p:cNvPr>
          <p:cNvGrpSpPr/>
          <p:nvPr/>
        </p:nvGrpSpPr>
        <p:grpSpPr>
          <a:xfrm>
            <a:off x="521804" y="972016"/>
            <a:ext cx="8226660" cy="72000"/>
            <a:chOff x="521804" y="828000"/>
            <a:chExt cx="8226660" cy="72000"/>
          </a:xfrm>
        </p:grpSpPr>
        <p:cxnSp>
          <p:nvCxnSpPr>
            <p:cNvPr id="38" name="37 Düz Bağlayıcı">
              <a:extLst>
                <a:ext uri="{FF2B5EF4-FFF2-40B4-BE49-F238E27FC236}">
                  <a16:creationId xmlns:a16="http://schemas.microsoft.com/office/drawing/2014/main" id="{A5C5AB61-B4D8-A008-3CD1-FBF2D85C35C5}"/>
                </a:ext>
              </a:extLst>
            </p:cNvPr>
            <p:cNvCxnSpPr/>
            <p:nvPr/>
          </p:nvCxnSpPr>
          <p:spPr>
            <a:xfrm flipH="1">
              <a:off x="521804" y="900000"/>
              <a:ext cx="822666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34 Düz Bağlayıcı">
              <a:extLst>
                <a:ext uri="{FF2B5EF4-FFF2-40B4-BE49-F238E27FC236}">
                  <a16:creationId xmlns:a16="http://schemas.microsoft.com/office/drawing/2014/main" id="{BC6AD271-0D6D-A413-B72C-4F09EC7E5F30}"/>
                </a:ext>
              </a:extLst>
            </p:cNvPr>
            <p:cNvCxnSpPr/>
            <p:nvPr/>
          </p:nvCxnSpPr>
          <p:spPr>
            <a:xfrm flipH="1">
              <a:off x="611560" y="864000"/>
              <a:ext cx="8136904" cy="0"/>
            </a:xfrm>
            <a:prstGeom prst="line">
              <a:avLst/>
            </a:prstGeom>
            <a:ln>
              <a:solidFill>
                <a:srgbClr val="C00000">
                  <a:alpha val="80000"/>
                </a:srgb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46 Düz Bağlayıcı">
              <a:extLst>
                <a:ext uri="{FF2B5EF4-FFF2-40B4-BE49-F238E27FC236}">
                  <a16:creationId xmlns:a16="http://schemas.microsoft.com/office/drawing/2014/main" id="{9F25177A-EA98-EADA-B094-C21F40ADABE1}"/>
                </a:ext>
              </a:extLst>
            </p:cNvPr>
            <p:cNvCxnSpPr/>
            <p:nvPr/>
          </p:nvCxnSpPr>
          <p:spPr>
            <a:xfrm flipH="1" flipV="1">
              <a:off x="684000" y="828000"/>
              <a:ext cx="8064464" cy="8712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  <a:alpha val="80000"/>
                </a:schemeClr>
              </a:solidFill>
            </a:ln>
            <a:effectLst>
              <a:outerShdw blurRad="292100" dist="38100" dir="6600000" rotWithShape="0">
                <a:srgbClr val="000000">
                  <a:alpha val="22000"/>
                </a:srgbClr>
              </a:outerShdw>
            </a:effectLst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23" name="22 Metin kutusu">
            <a:extLst>
              <a:ext uri="{FF2B5EF4-FFF2-40B4-BE49-F238E27FC236}">
                <a16:creationId xmlns:a16="http://schemas.microsoft.com/office/drawing/2014/main" id="{255ABFBA-44B7-25D5-FF96-5ACA6DD8C326}"/>
              </a:ext>
            </a:extLst>
          </p:cNvPr>
          <p:cNvSpPr txBox="1"/>
          <p:nvPr/>
        </p:nvSpPr>
        <p:spPr>
          <a:xfrm>
            <a:off x="684000" y="341710"/>
            <a:ext cx="8586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b="1" dirty="0">
                <a:latin typeface="Times New Roman" pitchFamily="18" charset="0"/>
                <a:cs typeface="Times New Roman" pitchFamily="18" charset="0"/>
              </a:rPr>
              <a:t>İş Yeri Uygulama Eğitimi Dersinin Süreçleri (Eğitim Esnasında)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6A2BDD3-F11C-048B-29E7-72C5F12EC557}"/>
              </a:ext>
            </a:extLst>
          </p:cNvPr>
          <p:cNvSpPr txBox="1"/>
          <p:nvPr/>
        </p:nvSpPr>
        <p:spPr>
          <a:xfrm>
            <a:off x="272580" y="1252504"/>
            <a:ext cx="858619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1" dirty="0"/>
              <a:t>Ara Rapor Teslim Etme Aşaması:</a:t>
            </a:r>
          </a:p>
          <a:p>
            <a:pPr algn="just"/>
            <a:endParaRPr lang="tr-TR" dirty="0">
              <a:solidFill>
                <a:srgbClr val="FF0000"/>
              </a:solidFill>
            </a:endParaRPr>
          </a:p>
          <a:p>
            <a:pPr algn="just"/>
            <a:r>
              <a:rPr lang="tr-TR" dirty="0"/>
              <a:t> İlk 9 haftada yapılan çalışmaların okulumuz web sayfasındaki "İşletmede Mesleki Eğitim"</a:t>
            </a:r>
          </a:p>
          <a:p>
            <a:pPr algn="just"/>
            <a:r>
              <a:rPr lang="tr-TR" dirty="0"/>
              <a:t>sekmesi içindeki "Ara Rapor" formatında hazırlanarak  13-17 Nisan 2006 tarihleri içerisinde "İŞTAK/STAJ" Birimine teslim edilmesi / ulaştırılması. </a:t>
            </a:r>
          </a:p>
          <a:p>
            <a:pPr algn="just"/>
            <a:endParaRPr lang="tr-TR" dirty="0"/>
          </a:p>
          <a:p>
            <a:pPr algn="just"/>
            <a:r>
              <a:rPr lang="tr-TR" dirty="0"/>
              <a:t>***Ara rapor şablonu kullanılarak hazırlanacaktır. </a:t>
            </a:r>
          </a:p>
          <a:p>
            <a:pPr algn="just"/>
            <a:r>
              <a:rPr lang="tr-TR" dirty="0">
                <a:hlinkClick r:id="rId3"/>
              </a:rPr>
              <a:t>https://turgutlumyo.mcbu.edu.tr/db_images/file/Ara%20(Vize)%20Raporu%20Format%C4%B1.docx</a:t>
            </a:r>
            <a:endParaRPr lang="tr-TR" dirty="0"/>
          </a:p>
          <a:p>
            <a:pPr algn="just"/>
            <a:endParaRPr lang="tr-TR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31DCA570-8EA1-E63A-31C2-EFB96D82B27E}"/>
              </a:ext>
            </a:extLst>
          </p:cNvPr>
          <p:cNvSpPr txBox="1"/>
          <p:nvPr/>
        </p:nvSpPr>
        <p:spPr>
          <a:xfrm>
            <a:off x="261864" y="4219925"/>
            <a:ext cx="842493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1" dirty="0"/>
              <a:t>Uygulama Raporu Teslim Etme Aşaması:</a:t>
            </a:r>
          </a:p>
          <a:p>
            <a:pPr algn="just"/>
            <a:r>
              <a:rPr lang="tr-TR" sz="2000" b="1" dirty="0"/>
              <a:t> </a:t>
            </a:r>
            <a:r>
              <a:rPr lang="tr-TR" dirty="0"/>
              <a:t>Eğitimin sona ermesinden itibaren en geç 1 hafta içerisinde okulumuz web sayfasındaki "İşletmede Mesleki Eğitim" sekmesi içindeki "Uygulama Raporu" formatında hazırlanarak "İŞTAK/STAJ" Birimine teslim edilmesi / ulaştırılması. </a:t>
            </a:r>
          </a:p>
          <a:p>
            <a:pPr algn="just"/>
            <a:endParaRPr lang="tr-TR" dirty="0"/>
          </a:p>
          <a:p>
            <a:pPr algn="just"/>
            <a:r>
              <a:rPr lang="tr-TR" dirty="0"/>
              <a:t>***Uygulama  rapor şablonu kullanılarak hazırlanacaktır. </a:t>
            </a:r>
          </a:p>
          <a:p>
            <a:pPr algn="just"/>
            <a:r>
              <a:rPr lang="tr-TR" sz="1400" dirty="0">
                <a:hlinkClick r:id="rId4"/>
              </a:rPr>
              <a:t>https://turgutlumyo.mcbu.edu.tr/db_images/file/Uygulama%20(Final)%20Raporu%20Format%C4%B1.docx</a:t>
            </a:r>
            <a:endParaRPr lang="tr-TR" sz="1400" dirty="0"/>
          </a:p>
          <a:p>
            <a:pPr algn="just"/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2722000108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5472</TotalTime>
  <Words>922</Words>
  <Application>Microsoft Office PowerPoint</Application>
  <PresentationFormat>Ekran Gösterisi (4:3)</PresentationFormat>
  <Paragraphs>123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22" baseType="lpstr">
      <vt:lpstr>Arial</vt:lpstr>
      <vt:lpstr>Calibri</vt:lpstr>
      <vt:lpstr>CenturyGothic</vt:lpstr>
      <vt:lpstr>CenturyGothic-Bold</vt:lpstr>
      <vt:lpstr>Times New Roman</vt:lpstr>
      <vt:lpstr>Wingdings</vt:lpstr>
      <vt:lpstr>Wingdings-Regular</vt:lpstr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hppc</dc:creator>
  <cp:lastModifiedBy>Olcay AYDIN</cp:lastModifiedBy>
  <cp:revision>1047</cp:revision>
  <cp:lastPrinted>2018-12-12T08:01:30Z</cp:lastPrinted>
  <dcterms:modified xsi:type="dcterms:W3CDTF">2025-12-22T20:46:16Z</dcterms:modified>
</cp:coreProperties>
</file>